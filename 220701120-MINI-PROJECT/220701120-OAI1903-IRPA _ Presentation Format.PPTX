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80" r:id="rId2"/>
    <p:sldId id="366" r:id="rId3"/>
    <p:sldId id="380" r:id="rId4"/>
    <p:sldId id="383" r:id="rId5"/>
    <p:sldId id="384" r:id="rId6"/>
    <p:sldId id="400" r:id="rId7"/>
    <p:sldId id="385" r:id="rId8"/>
    <p:sldId id="386" r:id="rId9"/>
    <p:sldId id="387" r:id="rId10"/>
    <p:sldId id="388" r:id="rId11"/>
    <p:sldId id="402" r:id="rId12"/>
    <p:sldId id="389" r:id="rId13"/>
    <p:sldId id="403" r:id="rId14"/>
    <p:sldId id="390" r:id="rId15"/>
    <p:sldId id="404" r:id="rId16"/>
    <p:sldId id="391" r:id="rId17"/>
    <p:sldId id="405" r:id="rId18"/>
    <p:sldId id="392" r:id="rId19"/>
    <p:sldId id="406" r:id="rId20"/>
    <p:sldId id="407" r:id="rId21"/>
    <p:sldId id="408" r:id="rId22"/>
    <p:sldId id="409" r:id="rId23"/>
    <p:sldId id="393" r:id="rId24"/>
    <p:sldId id="394" r:id="rId25"/>
    <p:sldId id="398" r:id="rId26"/>
    <p:sldId id="395" r:id="rId27"/>
    <p:sldId id="397" r:id="rId28"/>
    <p:sldId id="399" r:id="rId29"/>
    <p:sldId id="28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p:scale>
          <a:sx n="50" d="100"/>
          <a:sy n="50" d="100"/>
        </p:scale>
        <p:origin x="1836" y="6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8E6AF-BF60-5C8F-B383-67F78E5EA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30F79-55C8-BBEF-1C0A-8630D237A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8F43B-9DFB-5682-855B-E52CFE7DCF5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4074FFB-BA4F-2B85-8D7E-93458E9560B5}"/>
              </a:ext>
            </a:extLst>
          </p:cNvPr>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3943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2985D-F579-35B0-AD18-EB2C3F4D4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FF421-0883-A1FC-4A69-335211273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A3996-E0A2-2A01-82E3-21BDEFAC38B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0D43868-5C32-AFFF-BB81-39A8AD8FDD27}"/>
              </a:ext>
            </a:extLst>
          </p:cNvPr>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250926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DDF12-01EB-72CD-FA45-734F97425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85FD1-8674-56EF-D391-5AFC7D0A2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6A7A5-36C1-E63B-E117-04BB511A242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A2D2E15-9B03-B8DA-8E48-834E7C4E3902}"/>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361662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DCC5-7117-8DB3-C3E2-BCAC523B5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A29DD-7509-6625-61DD-EE355023A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57EA1-CC28-51FE-60F1-BE25B5F0351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1A57095-E356-5C3D-5A81-F175DD1306F9}"/>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43571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BF183-2B6B-4578-C753-19B8FAD71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A7354-59E8-EF4C-224D-4DD962C60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6C1A7-097E-CED9-E835-07331F7C69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C58C75E-FE2C-855A-5B32-19D82268F1EA}"/>
              </a:ext>
            </a:extLst>
          </p:cNvPr>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953197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E4A3C-3655-32B8-5D85-48B475A42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FB2C5-2282-7FE7-1465-E698674F2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0CB0B-06B3-F5E0-D3DF-297D4ABC0D5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A02CF46-1778-BD5A-5B92-EEB675034C18}"/>
              </a:ext>
            </a:extLst>
          </p:cNvPr>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11148615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ECDDC-05EE-D095-62AF-DC34DEDFC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2DA84-2352-6789-A3FE-3DBF34FB4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143CD-D5C6-9E6E-AF56-A24F1417CC8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EAFD2AB-37AE-3C1C-8076-CC1FA650EB1A}"/>
              </a:ext>
            </a:extLst>
          </p:cNvPr>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3380981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BF7D9-2AA6-6EED-E588-8FCA63991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0A81C-E423-07A1-CB6D-45B04FEEF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C3F92-116B-80A6-FC88-31A47D3B059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270CA02-CFFB-5E81-CE24-FD6B9AC6ED47}"/>
              </a:ext>
            </a:extLst>
          </p:cNvPr>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1044345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95BCD-A32C-ED35-61B6-62EE60514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7C8E1-DCD1-CB78-28AF-D5C9B9D7D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32751-2D96-4407-7B16-F158A7EF288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5B13CEA-BB24-1AFA-0013-AB827930BF20}"/>
              </a:ext>
            </a:extLst>
          </p:cNvPr>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1414191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27</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28</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29</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5186307" cy="1323439"/>
            </a:xfrm>
            <a:prstGeom prst="rect">
              <a:avLst/>
            </a:prstGeom>
            <a:noFill/>
          </p:spPr>
          <p:txBody>
            <a:bodyPr wrap="square" rtlCol="0">
              <a:spAutoFit/>
            </a:bodyPr>
            <a:lstStyle/>
            <a:p>
              <a:r>
                <a:rPr lang="en-US" sz="2000" b="1" dirty="0"/>
                <a:t>220701120</a:t>
              </a:r>
            </a:p>
            <a:p>
              <a:r>
                <a:rPr lang="en-US" sz="2000" b="1" dirty="0" err="1"/>
                <a:t>Karumury</a:t>
              </a:r>
              <a:r>
                <a:rPr lang="en-US" sz="2000" b="1" dirty="0"/>
                <a:t> Naga Madhava Nikhil</a:t>
              </a:r>
            </a:p>
            <a:p>
              <a:r>
                <a:rPr lang="en-IN" sz="2000" b="1" dirty="0"/>
                <a:t>Mrs. J. Jinu Sophia </a:t>
              </a:r>
            </a:p>
            <a:p>
              <a:r>
                <a:rPr lang="en-IN" sz="2000" b="1" dirty="0"/>
                <a:t>Assistant Professor(SG)</a:t>
              </a:r>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Ticket Master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5" name="Rectangle 2">
            <a:extLst>
              <a:ext uri="{FF2B5EF4-FFF2-40B4-BE49-F238E27FC236}">
                <a16:creationId xmlns:a16="http://schemas.microsoft.com/office/drawing/2014/main" id="{F69DD6B0-7744-28E4-D2EB-3171D332A018}"/>
              </a:ext>
            </a:extLst>
          </p:cNvPr>
          <p:cNvSpPr>
            <a:spLocks noGrp="1" noChangeArrowheads="1"/>
          </p:cNvSpPr>
          <p:nvPr>
            <p:ph idx="1"/>
          </p:nvPr>
        </p:nvSpPr>
        <p:spPr bwMode="auto">
          <a:xfrm>
            <a:off x="401030" y="1304764"/>
            <a:ext cx="834193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Arial" panose="020B0604020202020204" pitchFamily="34" charset="0"/>
                <a:cs typeface="Arial" panose="020B0604020202020204" pitchFamily="34" charset="0"/>
              </a:rPr>
              <a:t>	The </a:t>
            </a:r>
            <a:r>
              <a:rPr lang="en-US" sz="2000" b="1" dirty="0">
                <a:latin typeface="Arial" panose="020B0604020202020204" pitchFamily="34" charset="0"/>
                <a:cs typeface="Arial" panose="020B0604020202020204" pitchFamily="34" charset="0"/>
              </a:rPr>
              <a:t>“Ticket Master Bot” </a:t>
            </a:r>
            <a:r>
              <a:rPr lang="en-US" sz="2000" dirty="0">
                <a:latin typeface="Arial" panose="020B0604020202020204" pitchFamily="34" charset="0"/>
                <a:cs typeface="Arial" panose="020B0604020202020204" pitchFamily="34" charset="0"/>
              </a:rPr>
              <a:t>is an RPA-based automation project developed in UiPath Studio to efficiently generate seat numbers for movie tickets. This bot integrates with a structured Excel sheet containing booking details and a pre-formatted PowerPoint template for ticket design. It automates the process by reading booking data from the Excel file, dynamically assigning seat numbers, and updating the ticket template in PowerPoint with the corresponding details. The completed tickets are then exported as PDFs for distribution or printing. This solution leverages Robotic Process Automation to address the challenges of manual seat allocation, ensuring accuracy and significantly reducing the time required for the process. It is ideal for cinemas, event organizers, or online ticketing platforms that handle bulk bookings. The project also demonstrates UiPath Studio’s capabilities in handling file operations, data integration, and automating repetitive tasks, making it a scalable and efficient tool for ticketing workflows.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4" name="Rectangle 1">
            <a:extLst>
              <a:ext uri="{FF2B5EF4-FFF2-40B4-BE49-F238E27FC236}">
                <a16:creationId xmlns:a16="http://schemas.microsoft.com/office/drawing/2014/main" id="{ED7A2E42-1A5F-9253-0221-1021CA069879}"/>
              </a:ext>
            </a:extLst>
          </p:cNvPr>
          <p:cNvSpPr>
            <a:spLocks noGrp="1" noChangeArrowheads="1"/>
          </p:cNvSpPr>
          <p:nvPr>
            <p:ph idx="1"/>
          </p:nvPr>
        </p:nvSpPr>
        <p:spPr bwMode="auto">
          <a:xfrm>
            <a:off x="293018" y="1556792"/>
            <a:ext cx="855796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Arial" panose="020B0604020202020204" pitchFamily="34" charset="0"/>
                <a:cs typeface="Arial" panose="020B0604020202020204" pitchFamily="34" charset="0"/>
              </a:rPr>
              <a:t>	The proposed system, </a:t>
            </a:r>
            <a:r>
              <a:rPr lang="en-US" sz="2000" b="1" dirty="0">
                <a:latin typeface="Arial" panose="020B0604020202020204" pitchFamily="34" charset="0"/>
                <a:cs typeface="Arial" panose="020B0604020202020204" pitchFamily="34" charset="0"/>
              </a:rPr>
              <a:t>“Ticket Master Bot”</a:t>
            </a:r>
            <a:r>
              <a:rPr lang="en-US" sz="2000" dirty="0">
                <a:latin typeface="Arial" panose="020B0604020202020204" pitchFamily="34" charset="0"/>
                <a:cs typeface="Arial" panose="020B0604020202020204" pitchFamily="34" charset="0"/>
              </a:rPr>
              <a:t>, provides an automated solution to address the inefficiencies of the existing manual ticket generation process. Developed using UiPath Studio, this bot automates the entire workflow of creating personalized movie tickets. It reads participant details from an Excel sheet, processes each row, and dynamically replaces the placeholder text in a pre-designed PowerPoint ticket template with the corresponding seat number and participant information. Once updated, the bot exports each customized ticket as a PDF file, ready for distribution or printing. This automated solution eliminates the need for manual intervention, significantly reducing the time and effort involved in ticket generation. It ensures accuracy and consistency across all tickets, effectively removing the risk of errors such as incorrect seat numbers or formatting inconsistencies.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a:xfrm>
            <a:off x="190500" y="1088740"/>
            <a:ext cx="8763000" cy="5334000"/>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Arial" panose="020B0604020202020204" pitchFamily="34" charset="0"/>
              </a:rPr>
              <a:t>	The</a:t>
            </a:r>
            <a:r>
              <a:rPr lang="en-US" altLang="en-US" sz="2000" b="1" dirty="0">
                <a:latin typeface="Arial" panose="020B0604020202020204" pitchFamily="34" charset="0"/>
              </a:rPr>
              <a:t> Ticket Master B</a:t>
            </a:r>
            <a:r>
              <a:rPr kumimoji="0" lang="en-US" altLang="en-US" sz="2000" b="1" i="0" u="none" strike="noStrike" cap="none" normalizeH="0" baseline="0" dirty="0">
                <a:ln>
                  <a:noFill/>
                </a:ln>
                <a:solidFill>
                  <a:schemeClr val="tx1"/>
                </a:solidFill>
                <a:effectLst/>
                <a:latin typeface="Arial" panose="020B0604020202020204" pitchFamily="34" charset="0"/>
              </a:rPr>
              <a:t>ot</a:t>
            </a:r>
            <a:r>
              <a:rPr kumimoji="0" lang="en-US" altLang="en-US" sz="2000" b="0" i="0" u="none" strike="noStrike" cap="none" normalizeH="0" baseline="0" dirty="0">
                <a:ln>
                  <a:noFill/>
                </a:ln>
                <a:solidFill>
                  <a:schemeClr val="tx1"/>
                </a:solidFill>
                <a:effectLst/>
                <a:latin typeface="Arial" panose="020B0604020202020204" pitchFamily="34" charset="0"/>
              </a:rPr>
              <a:t> addresses critical challenges in managing bulk ticket generation for events. Manual seat allocation and ticket customization are time-consuming and prone to errors, especially when handling large numbers of participants. This system offers the following benefits: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 Automation of Repetitive Tasks</a:t>
            </a:r>
            <a:r>
              <a:rPr kumimoji="0" lang="en-US" altLang="en-US" sz="2000" b="0" i="0" u="none" strike="noStrike" cap="none" normalizeH="0" baseline="0" dirty="0">
                <a:ln>
                  <a:noFill/>
                </a:ln>
                <a:solidFill>
                  <a:schemeClr val="tx1"/>
                </a:solidFill>
                <a:effectLst/>
                <a:latin typeface="Arial" panose="020B0604020202020204" pitchFamily="34" charset="0"/>
              </a:rPr>
              <a:t>: Automates the entire process of seat allocation and ticket generation, reducing manual effort.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 Error Reduction</a:t>
            </a:r>
            <a:r>
              <a:rPr kumimoji="0" lang="en-US" altLang="en-US" sz="2000" b="0" i="0" u="none" strike="noStrike" cap="none" normalizeH="0" baseline="0" dirty="0">
                <a:ln>
                  <a:noFill/>
                </a:ln>
                <a:solidFill>
                  <a:schemeClr val="tx1"/>
                </a:solidFill>
                <a:effectLst/>
                <a:latin typeface="Arial" panose="020B0604020202020204" pitchFamily="34" charset="0"/>
              </a:rPr>
              <a:t>: Ensures accuracy in seat assignment and ticket formatting, eliminating human errors.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Arial" panose="020B0604020202020204" pitchFamily="34" charset="0"/>
              </a:rPr>
              <a:t> Scalability</a:t>
            </a:r>
            <a:r>
              <a:rPr kumimoji="0" lang="en-US" altLang="en-US" sz="2000" b="0" i="0" u="none" strike="noStrike" cap="none" normalizeH="0" baseline="0" dirty="0">
                <a:ln>
                  <a:noFill/>
                </a:ln>
                <a:solidFill>
                  <a:schemeClr val="tx1"/>
                </a:solidFill>
                <a:effectLst/>
                <a:latin typeface="Arial" panose="020B0604020202020204" pitchFamily="34" charset="0"/>
              </a:rPr>
              <a:t>: Handles bulk ticket generation efficiently, making it suitable for large events or cinemas.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Arial" panose="020B0604020202020204" pitchFamily="34" charset="0"/>
              </a:rPr>
              <a:t> Time Efficiency</a:t>
            </a:r>
            <a:r>
              <a:rPr kumimoji="0" lang="en-US" altLang="en-US" sz="2000" b="0" i="0" u="none" strike="noStrike" cap="none" normalizeH="0" baseline="0" dirty="0">
                <a:ln>
                  <a:noFill/>
                </a:ln>
                <a:solidFill>
                  <a:schemeClr val="tx1"/>
                </a:solidFill>
                <a:effectLst/>
                <a:latin typeface="Arial" panose="020B0604020202020204" pitchFamily="34" charset="0"/>
              </a:rPr>
              <a:t>: Significantly speeds up the ticket creation process, saving time for organizers.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Arial" panose="020B0604020202020204" pitchFamily="34" charset="0"/>
              </a:rPr>
              <a:t> Cost-effectiveness</a:t>
            </a:r>
            <a:r>
              <a:rPr kumimoji="0" lang="en-US" altLang="en-US" sz="2000" b="0" i="0" u="none" strike="noStrike" cap="none" normalizeH="0" baseline="0" dirty="0">
                <a:ln>
                  <a:noFill/>
                </a:ln>
                <a:solidFill>
                  <a:schemeClr val="tx1"/>
                </a:solidFill>
                <a:effectLst/>
                <a:latin typeface="Arial" panose="020B0604020202020204" pitchFamily="34" charset="0"/>
              </a:rPr>
              <a:t>: Reduces dependency on manual labor, optimizing resource utilization.</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chemeClr val="tx1"/>
                </a:solidFill>
                <a:effectLst/>
                <a:latin typeface="Arial" panose="020B0604020202020204" pitchFamily="34" charset="0"/>
              </a:rPr>
              <a:t> Personalization</a:t>
            </a:r>
            <a:r>
              <a:rPr kumimoji="0" lang="en-US" altLang="en-US" sz="2000" b="0" i="0" u="none" strike="noStrike" cap="none" normalizeH="0" baseline="0" dirty="0">
                <a:ln>
                  <a:noFill/>
                </a:ln>
                <a:solidFill>
                  <a:schemeClr val="tx1"/>
                </a:solidFill>
                <a:effectLst/>
                <a:latin typeface="Arial" panose="020B0604020202020204" pitchFamily="34" charset="0"/>
              </a:rPr>
              <a:t>: Generates personalized movie tickets for each participant, enhancing user experience.</a:t>
            </a:r>
          </a:p>
          <a:p>
            <a:pPr marL="0" indent="0">
              <a:buNone/>
            </a:pP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a:xfrm>
            <a:off x="190500" y="1047328"/>
            <a:ext cx="8763000" cy="5334000"/>
          </a:xfrm>
        </p:spPr>
        <p:txBody>
          <a:bodyPr>
            <a:normAutofit fontScale="85000" lnSpcReduction="20000"/>
          </a:bodyPr>
          <a:lstStyle/>
          <a:p>
            <a:r>
              <a:rPr lang="en-US" b="1" dirty="0"/>
              <a:t>Paper 1</a:t>
            </a:r>
          </a:p>
          <a:p>
            <a:r>
              <a:rPr lang="en-US" b="1" dirty="0"/>
              <a:t>Advantages:</a:t>
            </a:r>
          </a:p>
          <a:p>
            <a:pPr>
              <a:buFont typeface="+mj-lt"/>
              <a:buAutoNum type="arabicPeriod"/>
            </a:pPr>
            <a:r>
              <a:rPr lang="en-US" b="1" dirty="0"/>
              <a:t>Automation of Manual Tasks</a:t>
            </a:r>
            <a:r>
              <a:rPr lang="en-US" dirty="0"/>
              <a:t>: Reduces the workload and ensures faster processing of movie ticket generation.</a:t>
            </a:r>
          </a:p>
          <a:p>
            <a:pPr>
              <a:buFont typeface="+mj-lt"/>
              <a:buAutoNum type="arabicPeriod"/>
            </a:pPr>
            <a:r>
              <a:rPr lang="en-US" b="1" dirty="0"/>
              <a:t>Error Reduction</a:t>
            </a:r>
            <a:r>
              <a:rPr lang="en-US" dirty="0"/>
              <a:t>: Minimizes human errors in data entry, seat assignment, and template updating.</a:t>
            </a:r>
          </a:p>
          <a:p>
            <a:pPr>
              <a:buFont typeface="+mj-lt"/>
              <a:buAutoNum type="arabicPeriod"/>
            </a:pPr>
            <a:r>
              <a:rPr lang="en-US" b="1" dirty="0"/>
              <a:t>Scalability</a:t>
            </a:r>
            <a:r>
              <a:rPr lang="en-US" dirty="0"/>
              <a:t>: Handles a large number of participants with consistent efficiency.</a:t>
            </a:r>
          </a:p>
          <a:p>
            <a:pPr>
              <a:buFont typeface="+mj-lt"/>
              <a:buAutoNum type="arabicPeriod"/>
            </a:pPr>
            <a:r>
              <a:rPr lang="en-US" b="1" dirty="0"/>
              <a:t>Professional Output</a:t>
            </a:r>
            <a:r>
              <a:rPr lang="en-US" dirty="0"/>
              <a:t>: Provides customized and well-designed tickets in PDF format.</a:t>
            </a:r>
          </a:p>
          <a:p>
            <a:r>
              <a:rPr lang="en-US" b="1" dirty="0"/>
              <a:t>Disadvantages:</a:t>
            </a:r>
          </a:p>
          <a:p>
            <a:pPr>
              <a:buFont typeface="+mj-lt"/>
              <a:buAutoNum type="arabicPeriod"/>
            </a:pPr>
            <a:r>
              <a:rPr lang="en-US" b="1" dirty="0"/>
              <a:t>Dependence on Predefined Templates</a:t>
            </a:r>
            <a:r>
              <a:rPr lang="en-US" dirty="0"/>
              <a:t>: Limited flexibility for on-the-fly design changes.</a:t>
            </a:r>
          </a:p>
          <a:p>
            <a:pPr>
              <a:buFont typeface="+mj-lt"/>
              <a:buAutoNum type="arabicPeriod"/>
            </a:pPr>
            <a:r>
              <a:rPr lang="en-US" b="1" dirty="0"/>
              <a:t>Hardware/Software Requirements</a:t>
            </a:r>
            <a:r>
              <a:rPr lang="en-US" dirty="0"/>
              <a:t>: Requires specific tools like UiPath Studio and Microsoft Office, which might not be universally available.</a:t>
            </a:r>
          </a:p>
          <a:p>
            <a:pPr>
              <a:buFont typeface="+mj-lt"/>
              <a:buAutoNum type="arabicPeriod"/>
            </a:pPr>
            <a:r>
              <a:rPr lang="en-US" b="1" dirty="0"/>
              <a:t>Initial Setup Complexity</a:t>
            </a:r>
            <a:r>
              <a:rPr lang="en-US" dirty="0"/>
              <a:t>: Needs proper configuration and template preparation for smooth operation.</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153B-EE52-8C98-6698-A0643A10F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5B4D6-C395-D680-976F-0AC2477268CD}"/>
              </a:ext>
            </a:extLst>
          </p:cNvPr>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a:extLst>
              <a:ext uri="{FF2B5EF4-FFF2-40B4-BE49-F238E27FC236}">
                <a16:creationId xmlns:a16="http://schemas.microsoft.com/office/drawing/2014/main" id="{C7299B3B-4808-0FC1-9F5B-7C5014B6BA9F}"/>
              </a:ext>
            </a:extLst>
          </p:cNvPr>
          <p:cNvSpPr>
            <a:spLocks noGrp="1"/>
          </p:cNvSpPr>
          <p:nvPr>
            <p:ph idx="1"/>
          </p:nvPr>
        </p:nvSpPr>
        <p:spPr>
          <a:xfrm>
            <a:off x="190500" y="1047328"/>
            <a:ext cx="8763000" cy="5334000"/>
          </a:xfrm>
        </p:spPr>
        <p:txBody>
          <a:bodyPr>
            <a:normAutofit fontScale="85000" lnSpcReduction="20000"/>
          </a:bodyPr>
          <a:lstStyle/>
          <a:p>
            <a:r>
              <a:rPr lang="en-US" b="1" dirty="0"/>
              <a:t>Paper 2</a:t>
            </a:r>
          </a:p>
          <a:p>
            <a:r>
              <a:rPr lang="en-US" b="1" dirty="0"/>
              <a:t>Advantages:</a:t>
            </a:r>
          </a:p>
          <a:p>
            <a:pPr>
              <a:buFont typeface="+mj-lt"/>
              <a:buAutoNum type="arabicPeriod"/>
            </a:pPr>
            <a:r>
              <a:rPr lang="en-US" b="1" dirty="0"/>
              <a:t>Integration Capabilities</a:t>
            </a:r>
            <a:r>
              <a:rPr lang="en-US" dirty="0"/>
              <a:t>: Can be integrated with APIs or databases for dynamic data fetching.</a:t>
            </a:r>
          </a:p>
          <a:p>
            <a:pPr>
              <a:buFont typeface="+mj-lt"/>
              <a:buAutoNum type="arabicPeriod"/>
            </a:pPr>
            <a:r>
              <a:rPr lang="en-US" b="1" dirty="0"/>
              <a:t>Cost Savings</a:t>
            </a:r>
            <a:r>
              <a:rPr lang="en-US" dirty="0"/>
              <a:t>: Reduces the cost of manual ticket generation processes.</a:t>
            </a:r>
          </a:p>
          <a:p>
            <a:pPr>
              <a:buFont typeface="+mj-lt"/>
              <a:buAutoNum type="arabicPeriod"/>
            </a:pPr>
            <a:r>
              <a:rPr lang="en-US" b="1" dirty="0"/>
              <a:t>Environmentally Friendly</a:t>
            </a:r>
            <a:r>
              <a:rPr lang="en-US" dirty="0"/>
              <a:t>: Generates digital tickets, supporting paperless operations.</a:t>
            </a:r>
          </a:p>
          <a:p>
            <a:pPr>
              <a:buFont typeface="+mj-lt"/>
              <a:buAutoNum type="arabicPeriod"/>
            </a:pPr>
            <a:r>
              <a:rPr lang="en-US" b="1" dirty="0"/>
              <a:t>User Personalization</a:t>
            </a:r>
            <a:r>
              <a:rPr lang="en-US" dirty="0"/>
              <a:t>: Enables participant-specific details like seat numbers and names on tickets.</a:t>
            </a:r>
          </a:p>
          <a:p>
            <a:r>
              <a:rPr lang="en-US" b="1" dirty="0"/>
              <a:t>Disadvantages:</a:t>
            </a:r>
          </a:p>
          <a:p>
            <a:pPr>
              <a:buFont typeface="+mj-lt"/>
              <a:buAutoNum type="arabicPeriod"/>
            </a:pPr>
            <a:r>
              <a:rPr lang="en-US" b="1" dirty="0"/>
              <a:t>Limited Real-time Updates</a:t>
            </a:r>
            <a:r>
              <a:rPr lang="en-US" dirty="0"/>
              <a:t>: Cannot handle last-minute changes like seat reassignments without re-running the bot.</a:t>
            </a:r>
          </a:p>
          <a:p>
            <a:pPr>
              <a:buFont typeface="+mj-lt"/>
              <a:buAutoNum type="arabicPeriod"/>
            </a:pPr>
            <a:r>
              <a:rPr lang="en-US" b="1" dirty="0"/>
              <a:t>Technical Skill Requirement</a:t>
            </a:r>
            <a:r>
              <a:rPr lang="en-US" dirty="0"/>
              <a:t>: Users must have knowledge of UiPath and related tools for maintenance or troubleshooting.</a:t>
            </a:r>
          </a:p>
          <a:p>
            <a:pPr>
              <a:buFont typeface="+mj-lt"/>
              <a:buAutoNum type="arabicPeriod"/>
            </a:pPr>
            <a:r>
              <a:rPr lang="en-US" b="1" dirty="0"/>
              <a:t>Potential Downtime</a:t>
            </a:r>
            <a:r>
              <a:rPr lang="en-US" dirty="0"/>
              <a:t>: The bot’s performance relies on system stability and software availability.</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2746685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4" name="Rectangle 1">
            <a:extLst>
              <a:ext uri="{FF2B5EF4-FFF2-40B4-BE49-F238E27FC236}">
                <a16:creationId xmlns:a16="http://schemas.microsoft.com/office/drawing/2014/main" id="{DC597235-598B-ED9D-1E07-EF217EEBA1DA}"/>
              </a:ext>
            </a:extLst>
          </p:cNvPr>
          <p:cNvSpPr>
            <a:spLocks noGrp="1" noChangeArrowheads="1"/>
          </p:cNvSpPr>
          <p:nvPr>
            <p:ph idx="1"/>
          </p:nvPr>
        </p:nvSpPr>
        <p:spPr bwMode="auto">
          <a:xfrm>
            <a:off x="347024" y="1844824"/>
            <a:ext cx="844995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The main objective of the </a:t>
            </a:r>
            <a:r>
              <a:rPr kumimoji="0" lang="en-US" altLang="en-US" sz="2000" b="1" i="0" u="none" strike="noStrike" cap="none" normalizeH="0" baseline="0" dirty="0">
                <a:ln>
                  <a:noFill/>
                </a:ln>
                <a:solidFill>
                  <a:schemeClr val="tx1"/>
                </a:solidFill>
                <a:effectLst/>
                <a:latin typeface="Arial" panose="020B0604020202020204" pitchFamily="34" charset="0"/>
              </a:rPr>
              <a:t>Ticket Master Bot</a:t>
            </a:r>
            <a:r>
              <a:rPr kumimoji="0" lang="en-US" altLang="en-US" sz="2000" b="0" i="0" u="none" strike="noStrike" cap="none" normalizeH="0" baseline="0" dirty="0">
                <a:ln>
                  <a:noFill/>
                </a:ln>
                <a:solidFill>
                  <a:schemeClr val="tx1"/>
                </a:solidFill>
                <a:effectLst/>
                <a:latin typeface="Arial" panose="020B0604020202020204" pitchFamily="34" charset="0"/>
              </a:rPr>
              <a:t> is to automate the process of creating personalized movie tickets by integrating participant data from an Excel sheet with a pre-designed PowerPoint template. This project aims to streamline the ticket generation process by dynamically updating seat numbers and participant details in the template, generating accurate and professional PDF tickets for all entries. By eliminating manual effort and reducing errors, the bot significantly saves time and ensures scalability, making it ideal for handling large-scale events or bookings. Through the use of UiPath Studio, the system enhances workflow efficiency while delivering consistent, high-quality outputs tailored to each participant.</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8" name="Content Placeholder 7">
            <a:extLst>
              <a:ext uri="{FF2B5EF4-FFF2-40B4-BE49-F238E27FC236}">
                <a16:creationId xmlns:a16="http://schemas.microsoft.com/office/drawing/2014/main" id="{A4476BBB-2137-957E-CB41-A505CF9EDDF6}"/>
              </a:ext>
            </a:extLst>
          </p:cNvPr>
          <p:cNvPicPr>
            <a:picLocks noGrp="1" noChangeAspect="1"/>
          </p:cNvPicPr>
          <p:nvPr>
            <p:ph idx="1"/>
          </p:nvPr>
        </p:nvPicPr>
        <p:blipFill>
          <a:blip r:embed="rId4"/>
          <a:stretch>
            <a:fillRect/>
          </a:stretch>
        </p:blipFill>
        <p:spPr>
          <a:xfrm>
            <a:off x="2338633" y="1124744"/>
            <a:ext cx="4466733" cy="5106243"/>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7" name="Rectangle 2">
            <a:extLst>
              <a:ext uri="{FF2B5EF4-FFF2-40B4-BE49-F238E27FC236}">
                <a16:creationId xmlns:a16="http://schemas.microsoft.com/office/drawing/2014/main" id="{43A35713-E1F9-DAFD-1CB9-F9A4643D2C71}"/>
              </a:ext>
            </a:extLst>
          </p:cNvPr>
          <p:cNvSpPr>
            <a:spLocks noGrp="1" noChangeArrowheads="1"/>
          </p:cNvSpPr>
          <p:nvPr>
            <p:ph idx="1"/>
          </p:nvPr>
        </p:nvSpPr>
        <p:spPr bwMode="auto">
          <a:xfrm>
            <a:off x="190501" y="944136"/>
            <a:ext cx="87630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Hardware Requirements: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 Processor</a:t>
            </a:r>
            <a:r>
              <a:rPr kumimoji="0" lang="en-US" altLang="en-US" sz="1600" b="0" i="0" u="none" strike="noStrike" cap="none" normalizeH="0" baseline="0" dirty="0">
                <a:ln>
                  <a:noFill/>
                </a:ln>
                <a:solidFill>
                  <a:schemeClr val="tx1"/>
                </a:solidFill>
                <a:effectLst/>
                <a:latin typeface="Arial" panose="020B0604020202020204" pitchFamily="34" charset="0"/>
              </a:rPr>
              <a:t>: Intel Core i3 or higher (recommended: i5 or above).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 RAM</a:t>
            </a:r>
            <a:r>
              <a:rPr kumimoji="0" lang="en-US" altLang="en-US" sz="1600" b="0" i="0" u="none" strike="noStrike" cap="none" normalizeH="0" baseline="0" dirty="0">
                <a:ln>
                  <a:noFill/>
                </a:ln>
                <a:solidFill>
                  <a:schemeClr val="tx1"/>
                </a:solidFill>
                <a:effectLst/>
                <a:latin typeface="Arial" panose="020B0604020202020204" pitchFamily="34" charset="0"/>
              </a:rPr>
              <a:t>: Minimum 4 GB (recommended: 8 GB or more for faster processing).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 Storage</a:t>
            </a:r>
            <a:r>
              <a:rPr kumimoji="0" lang="en-US" altLang="en-US" sz="1600" b="0" i="0" u="none" strike="noStrike" cap="none" normalizeH="0" baseline="0" dirty="0">
                <a:ln>
                  <a:noFill/>
                </a:ln>
                <a:solidFill>
                  <a:schemeClr val="tx1"/>
                </a:solidFill>
                <a:effectLst/>
                <a:latin typeface="Arial" panose="020B0604020202020204" pitchFamily="34" charset="0"/>
              </a:rPr>
              <a:t>: Minimum 2 GB of free disk space for project files, templates, and outputs.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Arial" panose="020B0604020202020204" pitchFamily="34" charset="0"/>
              </a:rPr>
              <a:t> Display</a:t>
            </a:r>
            <a:r>
              <a:rPr kumimoji="0" lang="en-US" altLang="en-US" sz="1600" b="0" i="0" u="none" strike="noStrike" cap="none" normalizeH="0" baseline="0" dirty="0">
                <a:ln>
                  <a:noFill/>
                </a:ln>
                <a:solidFill>
                  <a:schemeClr val="tx1"/>
                </a:solidFill>
                <a:effectLst/>
                <a:latin typeface="Arial" panose="020B0604020202020204" pitchFamily="34" charset="0"/>
              </a:rPr>
              <a:t>: Monitor with a resolution of 1366 x 768 or higher.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Arial" panose="020B0604020202020204" pitchFamily="34" charset="0"/>
              </a:rPr>
              <a:t> Internet Connection</a:t>
            </a:r>
            <a:r>
              <a:rPr kumimoji="0" lang="en-US" altLang="en-US" sz="1600" b="0" i="0" u="none" strike="noStrike" cap="none" normalizeH="0" baseline="0" dirty="0">
                <a:ln>
                  <a:noFill/>
                </a:ln>
                <a:solidFill>
                  <a:schemeClr val="tx1"/>
                </a:solidFill>
                <a:effectLst/>
                <a:latin typeface="Arial" panose="020B0604020202020204" pitchFamily="34" charset="0"/>
              </a:rPr>
              <a:t>: For installing UiPath Studio and updating dependencies.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Software Requirements: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 UiPath Studio</a:t>
            </a:r>
            <a:r>
              <a:rPr kumimoji="0" lang="en-US" altLang="en-US" sz="1600" b="0" i="0" u="none" strike="noStrike" cap="none" normalizeH="0" baseline="0" dirty="0">
                <a:ln>
                  <a:noFill/>
                </a:ln>
                <a:solidFill>
                  <a:schemeClr val="tx1"/>
                </a:solidFill>
                <a:effectLst/>
                <a:latin typeface="Arial" panose="020B0604020202020204" pitchFamily="34" charset="0"/>
              </a:rPr>
              <a:t>: To develop and run the RPA workflows for automating the ticket generation process.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 Microsoft Office Suite</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Excel</a:t>
            </a:r>
            <a:r>
              <a:rPr kumimoji="0" lang="en-US" altLang="en-US" sz="1600" b="0" i="0" u="none" strike="noStrike" cap="none" normalizeH="0" baseline="0" dirty="0">
                <a:ln>
                  <a:noFill/>
                </a:ln>
                <a:solidFill>
                  <a:schemeClr val="tx1"/>
                </a:solidFill>
                <a:effectLst/>
                <a:latin typeface="Arial" panose="020B0604020202020204" pitchFamily="34" charset="0"/>
              </a:rPr>
              <a:t>: To manage and store participant details.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PowerPoint</a:t>
            </a:r>
            <a:r>
              <a:rPr kumimoji="0" lang="en-US" altLang="en-US" sz="1600" b="0" i="0" u="none" strike="noStrike" cap="none" normalizeH="0" baseline="0" dirty="0">
                <a:ln>
                  <a:noFill/>
                </a:ln>
                <a:solidFill>
                  <a:schemeClr val="tx1"/>
                </a:solidFill>
                <a:effectLst/>
                <a:latin typeface="Arial" panose="020B0604020202020204" pitchFamily="34" charset="0"/>
              </a:rPr>
              <a:t>: To edit and use the ticket template.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 PDF Reader</a:t>
            </a:r>
            <a:r>
              <a:rPr kumimoji="0" lang="en-US" altLang="en-US" sz="1600" b="0" i="0" u="none" strike="noStrike" cap="none" normalizeH="0" baseline="0" dirty="0">
                <a:ln>
                  <a:noFill/>
                </a:ln>
                <a:solidFill>
                  <a:schemeClr val="tx1"/>
                </a:solidFill>
                <a:effectLst/>
                <a:latin typeface="Arial" panose="020B0604020202020204" pitchFamily="34" charset="0"/>
              </a:rPr>
              <a:t>: To view and verify the generated PDF tickets.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Arial" panose="020B0604020202020204" pitchFamily="34" charset="0"/>
              </a:rPr>
              <a:t> Windows Operating System</a:t>
            </a:r>
            <a:r>
              <a:rPr kumimoji="0" lang="en-US" altLang="en-US" sz="1600" b="0" i="0" u="none" strike="noStrike" cap="none" normalizeH="0" baseline="0" dirty="0">
                <a:ln>
                  <a:noFill/>
                </a:ln>
                <a:solidFill>
                  <a:schemeClr val="tx1"/>
                </a:solidFill>
                <a:effectLst/>
                <a:latin typeface="Arial" panose="020B0604020202020204" pitchFamily="34" charset="0"/>
              </a:rPr>
              <a:t>: Windows 10 or later for running UiPath Studio.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Arial" panose="020B0604020202020204" pitchFamily="34" charset="0"/>
              </a:rPr>
              <a:t> NET Framework</a:t>
            </a:r>
            <a:r>
              <a:rPr kumimoji="0" lang="en-US" altLang="en-US" sz="1600" b="0" i="0" u="none" strike="noStrike" cap="none" normalizeH="0" baseline="0" dirty="0">
                <a:ln>
                  <a:noFill/>
                </a:ln>
                <a:solidFill>
                  <a:schemeClr val="tx1"/>
                </a:solidFill>
                <a:effectLst/>
                <a:latin typeface="Arial" panose="020B0604020202020204" pitchFamily="34" charset="0"/>
              </a:rPr>
              <a:t>: Version 4.6 or higher for UiPath compatibility.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1" i="0" u="none" strike="noStrike" cap="none" normalizeH="0" baseline="0" dirty="0">
                <a:ln>
                  <a:noFill/>
                </a:ln>
                <a:solidFill>
                  <a:schemeClr val="tx1"/>
                </a:solidFill>
                <a:effectLst/>
                <a:latin typeface="Arial" panose="020B0604020202020204" pitchFamily="34" charset="0"/>
              </a:rPr>
              <a:t> UiPath Dependencies</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UiPath.Excel.Activities</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UiPath.PDF.Activities</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UiPath.System.Activities</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600" b="1" i="0" u="none" strike="noStrike" cap="none" normalizeH="0" baseline="0" dirty="0">
                <a:ln>
                  <a:noFill/>
                </a:ln>
                <a:solidFill>
                  <a:schemeClr val="tx1"/>
                </a:solidFill>
                <a:effectLst/>
                <a:latin typeface="Arial" panose="020B0604020202020204" pitchFamily="34" charset="0"/>
              </a:rPr>
              <a:t> Storage</a:t>
            </a:r>
            <a:r>
              <a:rPr kumimoji="0" lang="en-US" altLang="en-US" sz="1600" b="0" i="0" u="none" strike="noStrike" cap="none" normalizeH="0" baseline="0" dirty="0">
                <a:ln>
                  <a:noFill/>
                </a:ln>
                <a:solidFill>
                  <a:schemeClr val="tx1"/>
                </a:solidFill>
                <a:effectLst/>
                <a:latin typeface="Arial" panose="020B0604020202020204" pitchFamily="34" charset="0"/>
              </a:rPr>
              <a:t>: Cloud storage or local disk for saving Excel files, PowerPoint templates, and PDF tickets. </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a:xfrm>
            <a:off x="190500" y="1479376"/>
            <a:ext cx="3687520" cy="5334000"/>
          </a:xfrm>
        </p:spPr>
        <p:txBody>
          <a:bodyPr>
            <a:normAutofit/>
          </a:bodyPr>
          <a:lstStyle/>
          <a:p>
            <a:pPr marL="0" indent="0">
              <a:buNone/>
            </a:pPr>
            <a:r>
              <a:rPr lang="en-US" sz="1800" b="1" dirty="0">
                <a:latin typeface="Arial" panose="020B0604020202020204" pitchFamily="34" charset="0"/>
                <a:cs typeface="Arial" panose="020B0604020202020204" pitchFamily="34" charset="0"/>
              </a:rPr>
              <a:t>Module 1</a:t>
            </a:r>
            <a:r>
              <a:rPr lang="en-US" sz="1800" dirty="0">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Module 1 reads participant data from an Excel sheet using UiPath’s Excel Application Scope and Read Range activities. It validates the data and iterates through each row to extract names and seat numbers. The extracted details are stored in variables for ticket generation. Error handling is implemented for invalid data or file issues.</a:t>
            </a:r>
          </a:p>
          <a:p>
            <a:pPr marL="0" indent="0">
              <a:buNone/>
            </a:pPr>
            <a:endParaRPr lang="en-US" sz="20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8763BFC-C5DE-A47E-D843-6CEE0A842C57}"/>
              </a:ext>
            </a:extLst>
          </p:cNvPr>
          <p:cNvPicPr>
            <a:picLocks noChangeAspect="1"/>
          </p:cNvPicPr>
          <p:nvPr/>
        </p:nvPicPr>
        <p:blipFill>
          <a:blip r:embed="rId4"/>
          <a:stretch>
            <a:fillRect/>
          </a:stretch>
        </p:blipFill>
        <p:spPr>
          <a:xfrm>
            <a:off x="4355976" y="1610798"/>
            <a:ext cx="4425253" cy="3636404"/>
          </a:xfrm>
          <a:prstGeom prst="rect">
            <a:avLst/>
          </a:prstGeo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0CCC-E658-82D8-5463-566BB4B85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4D784-C0E8-02D5-8A14-5FB0A67D7014}"/>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368DA5CC-49AB-8C20-699C-544D6E0A403D}"/>
              </a:ext>
            </a:extLst>
          </p:cNvPr>
          <p:cNvSpPr>
            <a:spLocks noGrp="1"/>
          </p:cNvSpPr>
          <p:nvPr>
            <p:ph idx="1"/>
          </p:nvPr>
        </p:nvSpPr>
        <p:spPr>
          <a:xfrm>
            <a:off x="190501" y="1623392"/>
            <a:ext cx="4196692" cy="5334000"/>
          </a:xfrm>
        </p:spPr>
        <p:txBody>
          <a:bodyPr/>
          <a:lstStyle/>
          <a:p>
            <a:pPr marL="0" indent="0">
              <a:buNone/>
            </a:pPr>
            <a:r>
              <a:rPr lang="en-US" sz="1800" b="1" dirty="0">
                <a:latin typeface="Arial" panose="020B0604020202020204" pitchFamily="34" charset="0"/>
                <a:cs typeface="Arial" panose="020B0604020202020204" pitchFamily="34" charset="0"/>
              </a:rPr>
              <a:t>Module 2: </a:t>
            </a:r>
            <a:r>
              <a:rPr lang="en-US" sz="1800" dirty="0">
                <a:latin typeface="Arial" panose="020B0604020202020204" pitchFamily="34" charset="0"/>
                <a:cs typeface="Arial" panose="020B0604020202020204" pitchFamily="34" charset="0"/>
              </a:rPr>
              <a:t>PowerPoint Template Processing and Ticket Generation -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Module 2 uses UiPath’s PowerPoint activities to populate the movie ticket template with participant data from Module 1. It replaces placeholders for names and seat numbers, then saves the updated template as a PDF for each participant. This process repeats for all participants, generating individual tickets. Error handling ensures smooth operation during data insertion or PowerPoint file issues.</a:t>
            </a:r>
          </a:p>
          <a:p>
            <a:pPr marL="0" indent="0">
              <a:buNone/>
            </a:pPr>
            <a:endParaRPr lang="en-US" dirty="0"/>
          </a:p>
        </p:txBody>
      </p:sp>
      <p:pic>
        <p:nvPicPr>
          <p:cNvPr id="6" name="Picture 5">
            <a:extLst>
              <a:ext uri="{FF2B5EF4-FFF2-40B4-BE49-F238E27FC236}">
                <a16:creationId xmlns:a16="http://schemas.microsoft.com/office/drawing/2014/main" id="{B7D990F0-9E8F-D2F3-8573-B39C51C415DC}"/>
              </a:ext>
            </a:extLst>
          </p:cNvPr>
          <p:cNvPicPr>
            <a:picLocks noChangeAspect="1"/>
          </p:cNvPicPr>
          <p:nvPr/>
        </p:nvPicPr>
        <p:blipFill>
          <a:blip r:embed="rId4"/>
          <a:stretch>
            <a:fillRect/>
          </a:stretch>
        </p:blipFill>
        <p:spPr>
          <a:xfrm>
            <a:off x="4569372" y="1992866"/>
            <a:ext cx="4196692" cy="3380350"/>
          </a:xfrm>
          <a:prstGeom prst="rect">
            <a:avLst/>
          </a:prstGeom>
        </p:spPr>
      </p:pic>
    </p:spTree>
    <p:custDataLst>
      <p:tags r:id="rId1"/>
    </p:custDataLst>
    <p:extLst>
      <p:ext uri="{BB962C8B-B14F-4D97-AF65-F5344CB8AC3E}">
        <p14:creationId xmlns:p14="http://schemas.microsoft.com/office/powerpoint/2010/main" val="2703658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4" name="Rectangle 1">
            <a:extLst>
              <a:ext uri="{FF2B5EF4-FFF2-40B4-BE49-F238E27FC236}">
                <a16:creationId xmlns:a16="http://schemas.microsoft.com/office/drawing/2014/main" id="{7CFD56CD-34B2-32E5-A3EE-0DB9BFA2F9C5}"/>
              </a:ext>
            </a:extLst>
          </p:cNvPr>
          <p:cNvSpPr>
            <a:spLocks noGrp="1" noChangeArrowheads="1"/>
          </p:cNvSpPr>
          <p:nvPr>
            <p:ph idx="1"/>
          </p:nvPr>
        </p:nvSpPr>
        <p:spPr bwMode="auto">
          <a:xfrm>
            <a:off x="190501" y="1159579"/>
            <a:ext cx="8763000"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Entities and Relationships: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Participant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Contains details about each participant in the movie.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ParticipantID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(Primary Key), Name,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SeatNumber</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MovieTicket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Contains the generated movie ticket for each participant, based on the seat allocation.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TicketID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(Primary Key),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ParticipantID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(Foreign Key),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SeatNumber</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TicketPDF</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Movie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movie being watched (optional, depending on your use case).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(Primary Key),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MovieName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ShowTime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ERD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Participant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MovieTicket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have a one-to-many relationship, where each     participant can have one or more tickets.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MovieTicket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table is linked to the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Participant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table via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ParticipantID</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If your system supports multiple movies or showtimes, the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MovieTicket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can also be linked to the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Movie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entity.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639169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E3BA8-055D-A48B-2557-1A2D9EF8D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77322-CB59-5580-AF07-D69F9FB77C01}"/>
              </a:ext>
            </a:extLst>
          </p:cNvPr>
          <p:cNvSpPr>
            <a:spLocks noGrp="1"/>
          </p:cNvSpPr>
          <p:nvPr>
            <p:ph type="title"/>
          </p:nvPr>
        </p:nvSpPr>
        <p:spPr/>
        <p:txBody>
          <a:bodyPr>
            <a:normAutofit/>
          </a:bodyPr>
          <a:lstStyle/>
          <a:p>
            <a:r>
              <a:rPr lang="en-US" dirty="0"/>
              <a:t>Table Design</a:t>
            </a:r>
            <a:endParaRPr lang="en-IN" dirty="0">
              <a:latin typeface="+mj-lt"/>
            </a:endParaRPr>
          </a:p>
        </p:txBody>
      </p:sp>
      <p:sp>
        <p:nvSpPr>
          <p:cNvPr id="4" name="Rectangle 1">
            <a:extLst>
              <a:ext uri="{FF2B5EF4-FFF2-40B4-BE49-F238E27FC236}">
                <a16:creationId xmlns:a16="http://schemas.microsoft.com/office/drawing/2014/main" id="{E895130F-9E44-614B-0683-5C505C96A48A}"/>
              </a:ext>
            </a:extLst>
          </p:cNvPr>
          <p:cNvSpPr>
            <a:spLocks noGrp="1" noChangeArrowheads="1"/>
          </p:cNvSpPr>
          <p:nvPr>
            <p:ph idx="1"/>
          </p:nvPr>
        </p:nvSpPr>
        <p:spPr bwMode="auto">
          <a:xfrm>
            <a:off x="3659392" y="1088740"/>
            <a:ext cx="18252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sz="2000" b="1" u="sng" dirty="0">
                <a:latin typeface="Arial" panose="020B0604020202020204" pitchFamily="34" charset="0"/>
                <a:cs typeface="Arial" panose="020B0604020202020204" pitchFamily="34" charset="0"/>
              </a:rPr>
              <a:t>ERD Diagram</a:t>
            </a:r>
            <a:endParaRPr kumimoji="0" lang="en-US" altLang="en-US" sz="2000" b="1" i="0" u="sng"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99A65FA-B7E1-F544-FD91-3B4511B02B5A}"/>
              </a:ext>
            </a:extLst>
          </p:cNvPr>
          <p:cNvPicPr>
            <a:picLocks noChangeAspect="1"/>
          </p:cNvPicPr>
          <p:nvPr/>
        </p:nvPicPr>
        <p:blipFill>
          <a:blip r:embed="rId4"/>
          <a:stretch>
            <a:fillRect/>
          </a:stretch>
        </p:blipFill>
        <p:spPr>
          <a:xfrm>
            <a:off x="2678353" y="1658149"/>
            <a:ext cx="3787294" cy="4617048"/>
          </a:xfrm>
          <a:prstGeom prst="rect">
            <a:avLst/>
          </a:prstGeom>
        </p:spPr>
      </p:pic>
    </p:spTree>
    <p:custDataLst>
      <p:tags r:id="rId1"/>
    </p:custDataLst>
    <p:extLst>
      <p:ext uri="{BB962C8B-B14F-4D97-AF65-F5344CB8AC3E}">
        <p14:creationId xmlns:p14="http://schemas.microsoft.com/office/powerpoint/2010/main" val="774127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a:xfrm>
            <a:off x="190500" y="1119336"/>
            <a:ext cx="8763000" cy="5334000"/>
          </a:xfrm>
        </p:spPr>
        <p:txBody>
          <a:bodyPr>
            <a:normAutofit fontScale="25000" lnSpcReduction="20000"/>
          </a:bodyPr>
          <a:lstStyle/>
          <a:p>
            <a:r>
              <a:rPr lang="en-US" sz="5600" b="1" dirty="0">
                <a:latin typeface="Arial" panose="020B0604020202020204" pitchFamily="34" charset="0"/>
                <a:cs typeface="Arial" panose="020B0604020202020204" pitchFamily="34" charset="0"/>
              </a:rPr>
              <a:t>Main Process Steps:</a:t>
            </a:r>
          </a:p>
          <a:p>
            <a:pPr>
              <a:buFont typeface="+mj-lt"/>
              <a:buAutoNum type="arabicPeriod"/>
            </a:pPr>
            <a:r>
              <a:rPr lang="en-US" sz="5600" b="1" dirty="0">
                <a:latin typeface="Arial" panose="020B0604020202020204" pitchFamily="34" charset="0"/>
                <a:cs typeface="Arial" panose="020B0604020202020204" pitchFamily="34" charset="0"/>
              </a:rPr>
              <a:t>Input Data and Template Setup</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Read Excel File</a:t>
            </a:r>
            <a:r>
              <a:rPr lang="en-US" sz="5600" dirty="0">
                <a:latin typeface="Arial" panose="020B0604020202020204" pitchFamily="34" charset="0"/>
                <a:cs typeface="Arial" panose="020B0604020202020204" pitchFamily="34" charset="0"/>
              </a:rPr>
              <a:t>: Load the Excel sheet containing participant details such as names and seat numbers.</a:t>
            </a:r>
          </a:p>
          <a:p>
            <a:pPr lvl="1"/>
            <a:r>
              <a:rPr lang="en-US" sz="5600" b="1" dirty="0">
                <a:latin typeface="Arial" panose="020B0604020202020204" pitchFamily="34" charset="0"/>
                <a:cs typeface="Arial" panose="020B0604020202020204" pitchFamily="34" charset="0"/>
              </a:rPr>
              <a:t>Open PowerPoint Template</a:t>
            </a:r>
            <a:r>
              <a:rPr lang="en-US" sz="5600" dirty="0">
                <a:latin typeface="Arial" panose="020B0604020202020204" pitchFamily="34" charset="0"/>
                <a:cs typeface="Arial" panose="020B0604020202020204" pitchFamily="34" charset="0"/>
              </a:rPr>
              <a:t>: Open the pre-designed PowerPoint movie ticket template that will be updated for each participant.</a:t>
            </a:r>
          </a:p>
          <a:p>
            <a:pPr>
              <a:buFont typeface="+mj-lt"/>
              <a:buAutoNum type="arabicPeriod"/>
            </a:pPr>
            <a:r>
              <a:rPr lang="en-US" sz="5600" b="1" dirty="0">
                <a:latin typeface="Arial" panose="020B0604020202020204" pitchFamily="34" charset="0"/>
                <a:cs typeface="Arial" panose="020B0604020202020204" pitchFamily="34" charset="0"/>
              </a:rPr>
              <a:t>Iterate Through Excel Data</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For Each Row in Excel</a:t>
            </a:r>
            <a:r>
              <a:rPr lang="en-US" sz="5600" dirty="0">
                <a:latin typeface="Arial" panose="020B0604020202020204" pitchFamily="34" charset="0"/>
                <a:cs typeface="Arial" panose="020B0604020202020204" pitchFamily="34" charset="0"/>
              </a:rPr>
              <a:t>: Loop through each row in the Excel sheet to extract the participant name and seat number.</a:t>
            </a:r>
          </a:p>
          <a:p>
            <a:pPr>
              <a:buFont typeface="+mj-lt"/>
              <a:buAutoNum type="arabicPeriod"/>
            </a:pPr>
            <a:r>
              <a:rPr lang="en-US" sz="5600" b="1" dirty="0">
                <a:latin typeface="Arial" panose="020B0604020202020204" pitchFamily="34" charset="0"/>
                <a:cs typeface="Arial" panose="020B0604020202020204" pitchFamily="34" charset="0"/>
              </a:rPr>
              <a:t>Update PowerPoint Template</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Replace Placeholder Text</a:t>
            </a:r>
            <a:r>
              <a:rPr lang="en-US" sz="5600" dirty="0">
                <a:latin typeface="Arial" panose="020B0604020202020204" pitchFamily="34" charset="0"/>
                <a:cs typeface="Arial" panose="020B0604020202020204" pitchFamily="34" charset="0"/>
              </a:rPr>
              <a:t>: For each participant, update the seat number and name in the PowerPoint template.</a:t>
            </a:r>
          </a:p>
          <a:p>
            <a:pPr lvl="1"/>
            <a:r>
              <a:rPr lang="en-US" sz="5600" b="1" dirty="0">
                <a:latin typeface="Arial" panose="020B0604020202020204" pitchFamily="34" charset="0"/>
                <a:cs typeface="Arial" panose="020B0604020202020204" pitchFamily="34" charset="0"/>
              </a:rPr>
              <a:t>Generate Ticket for Each Participant</a:t>
            </a:r>
            <a:r>
              <a:rPr lang="en-US" sz="5600" dirty="0">
                <a:latin typeface="Arial" panose="020B0604020202020204" pitchFamily="34" charset="0"/>
                <a:cs typeface="Arial" panose="020B0604020202020204" pitchFamily="34" charset="0"/>
              </a:rPr>
              <a:t>: Create a personalized movie ticket by inserting the corresponding seat number and participant's name into the template.</a:t>
            </a:r>
          </a:p>
          <a:p>
            <a:pPr>
              <a:buFont typeface="+mj-lt"/>
              <a:buAutoNum type="arabicPeriod"/>
            </a:pPr>
            <a:r>
              <a:rPr lang="en-US" sz="5600" b="1" dirty="0">
                <a:latin typeface="Arial" panose="020B0604020202020204" pitchFamily="34" charset="0"/>
                <a:cs typeface="Arial" panose="020B0604020202020204" pitchFamily="34" charset="0"/>
              </a:rPr>
              <a:t>Convert PowerPoint to PDF</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Save as PDF</a:t>
            </a:r>
            <a:r>
              <a:rPr lang="en-US" sz="5600" dirty="0">
                <a:latin typeface="Arial" panose="020B0604020202020204" pitchFamily="34" charset="0"/>
                <a:cs typeface="Arial" panose="020B0604020202020204" pitchFamily="34" charset="0"/>
              </a:rPr>
              <a:t>: Convert the updated PowerPoint slide into a PDF format, generating a unique movie ticket for the participant.</a:t>
            </a:r>
          </a:p>
          <a:p>
            <a:pPr>
              <a:buFont typeface="+mj-lt"/>
              <a:buAutoNum type="arabicPeriod"/>
            </a:pPr>
            <a:r>
              <a:rPr lang="en-US" sz="5600" b="1" dirty="0">
                <a:latin typeface="Arial" panose="020B0604020202020204" pitchFamily="34" charset="0"/>
                <a:cs typeface="Arial" panose="020B0604020202020204" pitchFamily="34" charset="0"/>
              </a:rPr>
              <a:t>Store and Save PDF Tickets</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Save PDF</a:t>
            </a:r>
            <a:r>
              <a:rPr lang="en-US" sz="5600" dirty="0">
                <a:latin typeface="Arial" panose="020B0604020202020204" pitchFamily="34" charset="0"/>
                <a:cs typeface="Arial" panose="020B0604020202020204" pitchFamily="34" charset="0"/>
              </a:rPr>
              <a:t>: Store the generated PDF tickets in a designated folder for easy access and distribution.</a:t>
            </a:r>
          </a:p>
          <a:p>
            <a:pPr>
              <a:buFont typeface="+mj-lt"/>
              <a:buAutoNum type="arabicPeriod"/>
            </a:pPr>
            <a:r>
              <a:rPr lang="en-US" sz="5600" b="1" dirty="0">
                <a:latin typeface="Arial" panose="020B0604020202020204" pitchFamily="34" charset="0"/>
                <a:cs typeface="Arial" panose="020B0604020202020204" pitchFamily="34" charset="0"/>
              </a:rPr>
              <a:t>End Process</a:t>
            </a:r>
            <a:endParaRPr lang="en-US" sz="5600" dirty="0">
              <a:latin typeface="Arial" panose="020B0604020202020204" pitchFamily="34" charset="0"/>
              <a:cs typeface="Arial" panose="020B0604020202020204" pitchFamily="34" charset="0"/>
            </a:endParaRPr>
          </a:p>
          <a:p>
            <a:pPr lvl="1"/>
            <a:r>
              <a:rPr lang="en-US" sz="5600" b="1" dirty="0">
                <a:latin typeface="Arial" panose="020B0604020202020204" pitchFamily="34" charset="0"/>
                <a:cs typeface="Arial" panose="020B0604020202020204" pitchFamily="34" charset="0"/>
              </a:rPr>
              <a:t>Close PowerPoint and Excel</a:t>
            </a:r>
            <a:r>
              <a:rPr lang="en-US" sz="5600" dirty="0">
                <a:latin typeface="Arial" panose="020B0604020202020204" pitchFamily="34" charset="0"/>
                <a:cs typeface="Arial" panose="020B0604020202020204" pitchFamily="34" charset="0"/>
              </a:rPr>
              <a:t>: Close all open files and end the process once all tickets are generated.</a:t>
            </a:r>
          </a:p>
          <a:p>
            <a:pPr marL="0" indent="0">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AC6A-807A-7E90-DEC4-45AB25CF5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747C1-1DE7-B000-38A0-B78C409F4170}"/>
              </a:ext>
            </a:extLst>
          </p:cNvPr>
          <p:cNvSpPr>
            <a:spLocks noGrp="1"/>
          </p:cNvSpPr>
          <p:nvPr>
            <p:ph type="title"/>
          </p:nvPr>
        </p:nvSpPr>
        <p:spPr/>
        <p:txBody>
          <a:bodyPr>
            <a:normAutofit/>
          </a:bodyPr>
          <a:lstStyle/>
          <a:p>
            <a:r>
              <a:rPr lang="en-US" dirty="0"/>
              <a:t>Process Design</a:t>
            </a:r>
            <a:endParaRPr lang="en-IN" dirty="0">
              <a:latin typeface="+mj-lt"/>
            </a:endParaRPr>
          </a:p>
        </p:txBody>
      </p:sp>
      <p:pic>
        <p:nvPicPr>
          <p:cNvPr id="5" name="Content Placeholder 4">
            <a:extLst>
              <a:ext uri="{FF2B5EF4-FFF2-40B4-BE49-F238E27FC236}">
                <a16:creationId xmlns:a16="http://schemas.microsoft.com/office/drawing/2014/main" id="{EE16F0B6-8075-FF11-FB01-B0C5D62B161F}"/>
              </a:ext>
            </a:extLst>
          </p:cNvPr>
          <p:cNvPicPr>
            <a:picLocks noGrp="1" noChangeAspect="1"/>
          </p:cNvPicPr>
          <p:nvPr>
            <p:ph idx="1"/>
          </p:nvPr>
        </p:nvPicPr>
        <p:blipFill>
          <a:blip r:embed="rId4"/>
          <a:stretch>
            <a:fillRect/>
          </a:stretch>
        </p:blipFill>
        <p:spPr>
          <a:xfrm>
            <a:off x="3164357" y="1047328"/>
            <a:ext cx="2815285" cy="5334000"/>
          </a:xfrm>
        </p:spPr>
      </p:pic>
    </p:spTree>
    <p:custDataLst>
      <p:tags r:id="rId1"/>
    </p:custDataLst>
    <p:extLst>
      <p:ext uri="{BB962C8B-B14F-4D97-AF65-F5344CB8AC3E}">
        <p14:creationId xmlns:p14="http://schemas.microsoft.com/office/powerpoint/2010/main" val="4051679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4" name="Rectangle 1">
            <a:extLst>
              <a:ext uri="{FF2B5EF4-FFF2-40B4-BE49-F238E27FC236}">
                <a16:creationId xmlns:a16="http://schemas.microsoft.com/office/drawing/2014/main" id="{A0570052-8D70-C61B-5D28-22564A132558}"/>
              </a:ext>
            </a:extLst>
          </p:cNvPr>
          <p:cNvSpPr>
            <a:spLocks noGrp="1" noChangeArrowheads="1"/>
          </p:cNvSpPr>
          <p:nvPr>
            <p:ph idx="1"/>
          </p:nvPr>
        </p:nvSpPr>
        <p:spPr bwMode="auto">
          <a:xfrm>
            <a:off x="200982" y="1997839"/>
            <a:ext cx="365093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Module 1 reads participant data from an Excel sheet using UiPath, validates it, and extracts names and seat numbers. The data is then stored in variables and passed to Module 2 for ticket generation. Error handling is included for data issues.</a:t>
            </a:r>
          </a:p>
        </p:txBody>
      </p:sp>
      <p:pic>
        <p:nvPicPr>
          <p:cNvPr id="6" name="Picture 5">
            <a:extLst>
              <a:ext uri="{FF2B5EF4-FFF2-40B4-BE49-F238E27FC236}">
                <a16:creationId xmlns:a16="http://schemas.microsoft.com/office/drawing/2014/main" id="{E8667D19-3A0F-290C-5C04-E216B6BE36F9}"/>
              </a:ext>
            </a:extLst>
          </p:cNvPr>
          <p:cNvPicPr>
            <a:picLocks noChangeAspect="1"/>
          </p:cNvPicPr>
          <p:nvPr/>
        </p:nvPicPr>
        <p:blipFill>
          <a:blip r:embed="rId4"/>
          <a:stretch>
            <a:fillRect/>
          </a:stretch>
        </p:blipFill>
        <p:spPr>
          <a:xfrm>
            <a:off x="3923955" y="1639487"/>
            <a:ext cx="5220045" cy="3579026"/>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DED26-5941-FA77-40BA-262E43C90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8F431-B451-9FA8-578B-70CD2ECA1B47}"/>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Rectangle 1">
            <a:extLst>
              <a:ext uri="{FF2B5EF4-FFF2-40B4-BE49-F238E27FC236}">
                <a16:creationId xmlns:a16="http://schemas.microsoft.com/office/drawing/2014/main" id="{9E0B1994-ABCB-5E03-45AC-91EE47237683}"/>
              </a:ext>
            </a:extLst>
          </p:cNvPr>
          <p:cNvSpPr>
            <a:spLocks noGrp="1" noChangeArrowheads="1"/>
          </p:cNvSpPr>
          <p:nvPr>
            <p:ph idx="1"/>
          </p:nvPr>
        </p:nvSpPr>
        <p:spPr bwMode="auto">
          <a:xfrm>
            <a:off x="611560" y="1536174"/>
            <a:ext cx="379432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Module 2 processes the PowerPoint template by opening it and replacing the placeholders with participant names and seat numbers from Module 1. It updates the template for each participant and saves the modified slides as PDF files. This process is repeated for all participants to generate individual movie tickets. </a:t>
            </a:r>
          </a:p>
        </p:txBody>
      </p:sp>
      <p:pic>
        <p:nvPicPr>
          <p:cNvPr id="7" name="Picture 6">
            <a:extLst>
              <a:ext uri="{FF2B5EF4-FFF2-40B4-BE49-F238E27FC236}">
                <a16:creationId xmlns:a16="http://schemas.microsoft.com/office/drawing/2014/main" id="{46A20D2E-CDC0-AB25-299D-370AC3FCB6A1}"/>
              </a:ext>
            </a:extLst>
          </p:cNvPr>
          <p:cNvPicPr>
            <a:picLocks noChangeAspect="1"/>
          </p:cNvPicPr>
          <p:nvPr/>
        </p:nvPicPr>
        <p:blipFill>
          <a:blip r:embed="rId4"/>
          <a:stretch>
            <a:fillRect/>
          </a:stretch>
        </p:blipFill>
        <p:spPr>
          <a:xfrm>
            <a:off x="4968044" y="1124744"/>
            <a:ext cx="3491812" cy="5220636"/>
          </a:xfrm>
          <a:prstGeom prst="rect">
            <a:avLst/>
          </a:prstGeom>
        </p:spPr>
      </p:pic>
    </p:spTree>
    <p:custDataLst>
      <p:tags r:id="rId1"/>
    </p:custDataLst>
    <p:extLst>
      <p:ext uri="{BB962C8B-B14F-4D97-AF65-F5344CB8AC3E}">
        <p14:creationId xmlns:p14="http://schemas.microsoft.com/office/powerpoint/2010/main" val="38453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4" name="Rectangle 1">
            <a:extLst>
              <a:ext uri="{FF2B5EF4-FFF2-40B4-BE49-F238E27FC236}">
                <a16:creationId xmlns:a16="http://schemas.microsoft.com/office/drawing/2014/main" id="{9060FB90-6024-B63C-6277-FDCFDEF70182}"/>
              </a:ext>
            </a:extLst>
          </p:cNvPr>
          <p:cNvSpPr>
            <a:spLocks noGrp="1" noChangeArrowheads="1"/>
          </p:cNvSpPr>
          <p:nvPr>
            <p:ph idx="1"/>
          </p:nvPr>
        </p:nvSpPr>
        <p:spPr bwMode="auto">
          <a:xfrm>
            <a:off x="190500" y="1536174"/>
            <a:ext cx="86659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The testing for the </a:t>
            </a:r>
            <a:r>
              <a:rPr kumimoji="0" lang="en-US" altLang="en-US" sz="2000" b="1" i="0" u="none" strike="noStrike" cap="none" normalizeH="0" baseline="0" dirty="0">
                <a:ln>
                  <a:noFill/>
                </a:ln>
                <a:solidFill>
                  <a:schemeClr val="tx1"/>
                </a:solidFill>
                <a:effectLst/>
                <a:latin typeface="Arial" panose="020B0604020202020204" pitchFamily="34" charset="0"/>
              </a:rPr>
              <a:t>Ticket Master Bot </a:t>
            </a:r>
            <a:r>
              <a:rPr kumimoji="0" lang="en-US" altLang="en-US" sz="2000" b="0" i="0" u="none" strike="noStrike" cap="none" normalizeH="0" baseline="0" dirty="0">
                <a:ln>
                  <a:noFill/>
                </a:ln>
                <a:solidFill>
                  <a:schemeClr val="tx1"/>
                </a:solidFill>
                <a:effectLst/>
                <a:latin typeface="Arial" panose="020B0604020202020204" pitchFamily="34" charset="0"/>
              </a:rPr>
              <a:t>involves verifying the correct extraction of participant data from the Excel sheet and ensuring that the seat numbers and names are correctly populated in the PowerPoint template. The bot is tested for data accuracy, ensuring that each row in the Excel sheet corresponds to the correct participant's seat number and name. The process is also tested to check that the PowerPoint template is properly updated for each participant and saved as a PDF without any errors. Additionally, error handling scenarios, such as missing or incorrect data in the Excel sheet or issues with the PowerPoint file, are tested to ensure that the bot functions smoothly under all conditions. The final output is validated to confirm that each generated movie ticket PDF contains the correct participant details.</a:t>
            </a:r>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F7C0D-61DF-1F83-8400-F784E5712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0AB60-52B8-36A2-6D50-5157D4B15E3A}"/>
              </a:ext>
            </a:extLst>
          </p:cNvPr>
          <p:cNvSpPr>
            <a:spLocks noGrp="1"/>
          </p:cNvSpPr>
          <p:nvPr>
            <p:ph type="title"/>
          </p:nvPr>
        </p:nvSpPr>
        <p:spPr/>
        <p:txBody>
          <a:bodyPr>
            <a:normAutofit/>
          </a:bodyPr>
          <a:lstStyle/>
          <a:p>
            <a:r>
              <a:rPr lang="en-US" dirty="0"/>
              <a:t>Testing</a:t>
            </a:r>
            <a:endParaRPr lang="en-IN" dirty="0">
              <a:latin typeface="+mj-lt"/>
            </a:endParaRPr>
          </a:p>
        </p:txBody>
      </p:sp>
      <p:pic>
        <p:nvPicPr>
          <p:cNvPr id="5" name="Content Placeholder 4">
            <a:extLst>
              <a:ext uri="{FF2B5EF4-FFF2-40B4-BE49-F238E27FC236}">
                <a16:creationId xmlns:a16="http://schemas.microsoft.com/office/drawing/2014/main" id="{57D85208-79A3-1510-68D2-CECFDC92DD4D}"/>
              </a:ext>
            </a:extLst>
          </p:cNvPr>
          <p:cNvPicPr>
            <a:picLocks noGrp="1" noChangeAspect="1"/>
          </p:cNvPicPr>
          <p:nvPr>
            <p:ph idx="1"/>
          </p:nvPr>
        </p:nvPicPr>
        <p:blipFill>
          <a:blip r:embed="rId4"/>
          <a:stretch>
            <a:fillRect/>
          </a:stretch>
        </p:blipFill>
        <p:spPr>
          <a:xfrm>
            <a:off x="853556" y="1105699"/>
            <a:ext cx="7436887" cy="4646601"/>
          </a:xfrm>
        </p:spPr>
      </p:pic>
      <p:sp>
        <p:nvSpPr>
          <p:cNvPr id="6" name="TextBox 5">
            <a:extLst>
              <a:ext uri="{FF2B5EF4-FFF2-40B4-BE49-F238E27FC236}">
                <a16:creationId xmlns:a16="http://schemas.microsoft.com/office/drawing/2014/main" id="{976E0C6A-94C3-88C1-7336-882B09081257}"/>
              </a:ext>
            </a:extLst>
          </p:cNvPr>
          <p:cNvSpPr txBox="1"/>
          <p:nvPr/>
        </p:nvSpPr>
        <p:spPr>
          <a:xfrm>
            <a:off x="3239852" y="5913276"/>
            <a:ext cx="3006335"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Participants Excel Sheet</a:t>
            </a:r>
          </a:p>
        </p:txBody>
      </p:sp>
    </p:spTree>
    <p:custDataLst>
      <p:tags r:id="rId1"/>
    </p:custDataLst>
    <p:extLst>
      <p:ext uri="{BB962C8B-B14F-4D97-AF65-F5344CB8AC3E}">
        <p14:creationId xmlns:p14="http://schemas.microsoft.com/office/powerpoint/2010/main" val="3598673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1F89E-422E-3A7B-4382-B29635046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D2C69-2506-2AB3-047E-2C5603F3BB5E}"/>
              </a:ext>
            </a:extLst>
          </p:cNvPr>
          <p:cNvSpPr>
            <a:spLocks noGrp="1"/>
          </p:cNvSpPr>
          <p:nvPr>
            <p:ph type="title"/>
          </p:nvPr>
        </p:nvSpPr>
        <p:spPr/>
        <p:txBody>
          <a:bodyPr>
            <a:normAutofit/>
          </a:bodyPr>
          <a:lstStyle/>
          <a:p>
            <a:r>
              <a:rPr lang="en-US" dirty="0"/>
              <a:t>Testing</a:t>
            </a:r>
            <a:endParaRPr lang="en-IN" dirty="0">
              <a:latin typeface="+mj-lt"/>
            </a:endParaRPr>
          </a:p>
        </p:txBody>
      </p:sp>
      <p:pic>
        <p:nvPicPr>
          <p:cNvPr id="5" name="Content Placeholder 4">
            <a:extLst>
              <a:ext uri="{FF2B5EF4-FFF2-40B4-BE49-F238E27FC236}">
                <a16:creationId xmlns:a16="http://schemas.microsoft.com/office/drawing/2014/main" id="{0695F903-6E95-65A5-18F2-0863F92E9437}"/>
              </a:ext>
            </a:extLst>
          </p:cNvPr>
          <p:cNvPicPr>
            <a:picLocks noGrp="1" noChangeAspect="1"/>
          </p:cNvPicPr>
          <p:nvPr>
            <p:ph idx="1"/>
          </p:nvPr>
        </p:nvPicPr>
        <p:blipFill>
          <a:blip r:embed="rId4"/>
          <a:stretch>
            <a:fillRect/>
          </a:stretch>
        </p:blipFill>
        <p:spPr>
          <a:xfrm>
            <a:off x="805501" y="1075674"/>
            <a:ext cx="7532998" cy="4706652"/>
          </a:xfrm>
        </p:spPr>
      </p:pic>
      <p:sp>
        <p:nvSpPr>
          <p:cNvPr id="6" name="TextBox 5">
            <a:extLst>
              <a:ext uri="{FF2B5EF4-FFF2-40B4-BE49-F238E27FC236}">
                <a16:creationId xmlns:a16="http://schemas.microsoft.com/office/drawing/2014/main" id="{78AE1A90-6E38-0CC0-895E-6C37348A58F2}"/>
              </a:ext>
            </a:extLst>
          </p:cNvPr>
          <p:cNvSpPr txBox="1"/>
          <p:nvPr/>
        </p:nvSpPr>
        <p:spPr>
          <a:xfrm>
            <a:off x="3743908" y="5913276"/>
            <a:ext cx="1980220"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Ticket Template</a:t>
            </a:r>
          </a:p>
        </p:txBody>
      </p:sp>
    </p:spTree>
    <p:custDataLst>
      <p:tags r:id="rId1"/>
    </p:custDataLst>
    <p:extLst>
      <p:ext uri="{BB962C8B-B14F-4D97-AF65-F5344CB8AC3E}">
        <p14:creationId xmlns:p14="http://schemas.microsoft.com/office/powerpoint/2010/main" val="270295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61C1-DD51-98B5-45D0-874BE1B3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00DAD-D798-E96B-3F68-97586AE364A0}"/>
              </a:ext>
            </a:extLst>
          </p:cNvPr>
          <p:cNvSpPr>
            <a:spLocks noGrp="1"/>
          </p:cNvSpPr>
          <p:nvPr>
            <p:ph type="title"/>
          </p:nvPr>
        </p:nvSpPr>
        <p:spPr/>
        <p:txBody>
          <a:bodyPr>
            <a:normAutofit/>
          </a:bodyPr>
          <a:lstStyle/>
          <a:p>
            <a:r>
              <a:rPr lang="en-US" dirty="0"/>
              <a:t>Testing</a:t>
            </a:r>
            <a:endParaRPr lang="en-IN" dirty="0">
              <a:latin typeface="+mj-lt"/>
            </a:endParaRPr>
          </a:p>
        </p:txBody>
      </p:sp>
      <p:pic>
        <p:nvPicPr>
          <p:cNvPr id="5" name="Content Placeholder 4">
            <a:extLst>
              <a:ext uri="{FF2B5EF4-FFF2-40B4-BE49-F238E27FC236}">
                <a16:creationId xmlns:a16="http://schemas.microsoft.com/office/drawing/2014/main" id="{05C261D4-B2FF-FCB1-DF34-1734C5AEAA3E}"/>
              </a:ext>
            </a:extLst>
          </p:cNvPr>
          <p:cNvPicPr>
            <a:picLocks noGrp="1" noChangeAspect="1"/>
          </p:cNvPicPr>
          <p:nvPr>
            <p:ph idx="1"/>
          </p:nvPr>
        </p:nvPicPr>
        <p:blipFill>
          <a:blip r:embed="rId4"/>
          <a:stretch>
            <a:fillRect/>
          </a:stretch>
        </p:blipFill>
        <p:spPr>
          <a:xfrm>
            <a:off x="187233" y="1264644"/>
            <a:ext cx="8763000" cy="4328711"/>
          </a:xfrm>
        </p:spPr>
      </p:pic>
      <p:sp>
        <p:nvSpPr>
          <p:cNvPr id="6" name="TextBox 5">
            <a:extLst>
              <a:ext uri="{FF2B5EF4-FFF2-40B4-BE49-F238E27FC236}">
                <a16:creationId xmlns:a16="http://schemas.microsoft.com/office/drawing/2014/main" id="{E6522589-0AFC-EE25-A36E-25DB0D31188B}"/>
              </a:ext>
            </a:extLst>
          </p:cNvPr>
          <p:cNvSpPr txBox="1"/>
          <p:nvPr/>
        </p:nvSpPr>
        <p:spPr>
          <a:xfrm>
            <a:off x="3635896" y="5837202"/>
            <a:ext cx="2124236"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After Debugging</a:t>
            </a:r>
          </a:p>
        </p:txBody>
      </p:sp>
    </p:spTree>
    <p:custDataLst>
      <p:tags r:id="rId1"/>
    </p:custDataLst>
    <p:extLst>
      <p:ext uri="{BB962C8B-B14F-4D97-AF65-F5344CB8AC3E}">
        <p14:creationId xmlns:p14="http://schemas.microsoft.com/office/powerpoint/2010/main" val="1120325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8C89-432F-9714-8C0D-A1E0D64AC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21EBF-27AC-D70C-E68F-B5DDE674B972}"/>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6" name="TextBox 5">
            <a:extLst>
              <a:ext uri="{FF2B5EF4-FFF2-40B4-BE49-F238E27FC236}">
                <a16:creationId xmlns:a16="http://schemas.microsoft.com/office/drawing/2014/main" id="{25C50FDD-CCB9-AC67-8C80-329E0E49E033}"/>
              </a:ext>
            </a:extLst>
          </p:cNvPr>
          <p:cNvSpPr txBox="1"/>
          <p:nvPr/>
        </p:nvSpPr>
        <p:spPr>
          <a:xfrm>
            <a:off x="2699792" y="5877272"/>
            <a:ext cx="4212468"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Certificates Generated Successfully</a:t>
            </a:r>
          </a:p>
        </p:txBody>
      </p:sp>
      <p:pic>
        <p:nvPicPr>
          <p:cNvPr id="8" name="Content Placeholder 7">
            <a:extLst>
              <a:ext uri="{FF2B5EF4-FFF2-40B4-BE49-F238E27FC236}">
                <a16:creationId xmlns:a16="http://schemas.microsoft.com/office/drawing/2014/main" id="{69B9326C-7B6B-B564-173C-B171B44EC02C}"/>
              </a:ext>
            </a:extLst>
          </p:cNvPr>
          <p:cNvPicPr>
            <a:picLocks noGrp="1" noChangeAspect="1"/>
          </p:cNvPicPr>
          <p:nvPr>
            <p:ph idx="1"/>
          </p:nvPr>
        </p:nvPicPr>
        <p:blipFill>
          <a:blip r:embed="rId4"/>
          <a:stretch>
            <a:fillRect/>
          </a:stretch>
        </p:blipFill>
        <p:spPr>
          <a:xfrm>
            <a:off x="2191076" y="1032823"/>
            <a:ext cx="5013876" cy="4685955"/>
          </a:xfrm>
        </p:spPr>
      </p:pic>
    </p:spTree>
    <p:custDataLst>
      <p:tags r:id="rId1"/>
    </p:custDataLst>
    <p:extLst>
      <p:ext uri="{BB962C8B-B14F-4D97-AF65-F5344CB8AC3E}">
        <p14:creationId xmlns:p14="http://schemas.microsoft.com/office/powerpoint/2010/main" val="4257872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4" name="Rectangle 1">
            <a:extLst>
              <a:ext uri="{FF2B5EF4-FFF2-40B4-BE49-F238E27FC236}">
                <a16:creationId xmlns:a16="http://schemas.microsoft.com/office/drawing/2014/main" id="{C4923C41-0F50-8A4D-CF93-F1EE7DADA6AA}"/>
              </a:ext>
            </a:extLst>
          </p:cNvPr>
          <p:cNvSpPr>
            <a:spLocks noGrp="1" noChangeArrowheads="1"/>
          </p:cNvSpPr>
          <p:nvPr>
            <p:ph idx="1"/>
          </p:nvPr>
        </p:nvSpPr>
        <p:spPr bwMode="auto">
          <a:xfrm>
            <a:off x="190501" y="1118444"/>
            <a:ext cx="8763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	The</a:t>
            </a:r>
            <a:r>
              <a:rPr kumimoji="0" lang="en-US" altLang="en-US" sz="1800" b="1" i="0" u="none" strike="noStrike" cap="none" normalizeH="0" baseline="0" dirty="0">
                <a:ln>
                  <a:noFill/>
                </a:ln>
                <a:solidFill>
                  <a:schemeClr val="tx1"/>
                </a:solidFill>
                <a:effectLst/>
                <a:latin typeface="Arial" panose="020B0604020202020204" pitchFamily="34" charset="0"/>
              </a:rPr>
              <a:t> Ticket Master Bot</a:t>
            </a:r>
            <a:r>
              <a:rPr kumimoji="0" lang="en-US" altLang="en-US" sz="1800" b="0" i="0" u="none" strike="noStrike" cap="none" normalizeH="0" baseline="0" dirty="0">
                <a:ln>
                  <a:noFill/>
                </a:ln>
                <a:solidFill>
                  <a:schemeClr val="tx1"/>
                </a:solidFill>
                <a:effectLst/>
                <a:latin typeface="Arial" panose="020B0604020202020204" pitchFamily="34" charset="0"/>
              </a:rPr>
              <a:t> developed using </a:t>
            </a:r>
            <a:r>
              <a:rPr kumimoji="0" lang="en-US" altLang="en-US" sz="1800" b="1" i="0" u="none" strike="noStrike" cap="none" normalizeH="0" baseline="0" dirty="0">
                <a:ln>
                  <a:noFill/>
                </a:ln>
                <a:solidFill>
                  <a:schemeClr val="tx1"/>
                </a:solidFill>
                <a:effectLst/>
                <a:latin typeface="Arial" panose="020B0604020202020204" pitchFamily="34" charset="0"/>
              </a:rPr>
              <a:t>UiPath Studio</a:t>
            </a:r>
            <a:r>
              <a:rPr kumimoji="0" lang="en-US" altLang="en-US" sz="1800" b="0" i="0" u="none" strike="noStrike" cap="none" normalizeH="0" baseline="0" dirty="0">
                <a:ln>
                  <a:noFill/>
                </a:ln>
                <a:solidFill>
                  <a:schemeClr val="tx1"/>
                </a:solidFill>
                <a:effectLst/>
                <a:latin typeface="Arial" panose="020B0604020202020204" pitchFamily="34" charset="0"/>
              </a:rPr>
              <a:t> efficiently automates the process of generating personalized movie tickets for a list of participants. By leveraging Robotic Process Automation (RPA), the bot reads data from an Excel sheet containing participant names and seat numbers, and updates a PowerPoint movie ticket template accordingly. This automation eliminates the need for manual ticket creation, saving both time and effort, while ensuring accuracy in seat assignments and participant details.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integration of PowerPoint and Excel with RPA not only streamlines the process but also ensures scalability, as it can handle large numbers of participants without compromising on performance. By converting the updated PowerPoint slides into PDF format, the bot produces professional, personalized tickets that can be easily stored, distributed, or printed.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Overall, the Movie Ticket Seat Generation Bot showcases the power of UiPath Studio in automating repetitive tasks, providing a cost-effective, reliable, and efficient solution for businesses such as cinemas, event organizers, and online ticketing platforms.</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a:xfrm>
            <a:off x="-540568" y="7857492"/>
            <a:ext cx="8763000" cy="5334000"/>
          </a:xfrm>
        </p:spPr>
        <p:txBody>
          <a:bodyPr/>
          <a:lstStyle/>
          <a:p>
            <a:pPr marL="0" indent="0">
              <a:buNone/>
            </a:pPr>
            <a:endParaRPr lang="en-US" dirty="0"/>
          </a:p>
          <a:p>
            <a:endParaRPr lang="en-US" dirty="0"/>
          </a:p>
          <a:p>
            <a:endParaRPr lang="en-US" dirty="0"/>
          </a:p>
        </p:txBody>
      </p:sp>
      <p:sp>
        <p:nvSpPr>
          <p:cNvPr id="4" name="Rectangle 1">
            <a:extLst>
              <a:ext uri="{FF2B5EF4-FFF2-40B4-BE49-F238E27FC236}">
                <a16:creationId xmlns:a16="http://schemas.microsoft.com/office/drawing/2014/main" id="{37862991-925B-F883-EC54-AF5D6E891C69}"/>
              </a:ext>
            </a:extLst>
          </p:cNvPr>
          <p:cNvSpPr>
            <a:spLocks noChangeArrowheads="1"/>
          </p:cNvSpPr>
          <p:nvPr/>
        </p:nvSpPr>
        <p:spPr bwMode="auto">
          <a:xfrm>
            <a:off x="107503" y="1119227"/>
            <a:ext cx="884599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In the future, the </a:t>
            </a:r>
            <a:r>
              <a:rPr lang="en-US" altLang="en-US" b="1" dirty="0">
                <a:latin typeface="Arial" panose="020B0604020202020204" pitchFamily="34" charset="0"/>
              </a:rPr>
              <a:t>Ticket Master </a:t>
            </a:r>
            <a:r>
              <a:rPr kumimoji="0" lang="en-US" altLang="en-US" sz="1800" b="1" i="0" u="none" strike="noStrike" cap="none" normalizeH="0" baseline="0" dirty="0">
                <a:ln>
                  <a:noFill/>
                </a:ln>
                <a:solidFill>
                  <a:schemeClr val="tx1"/>
                </a:solidFill>
                <a:effectLst/>
                <a:latin typeface="Arial" panose="020B0604020202020204" pitchFamily="34" charset="0"/>
              </a:rPr>
              <a:t>Bot</a:t>
            </a:r>
            <a:r>
              <a:rPr kumimoji="0" lang="en-US" altLang="en-US" sz="1800" b="0" i="0" u="none" strike="noStrike" cap="none" normalizeH="0" baseline="0" dirty="0">
                <a:ln>
                  <a:noFill/>
                </a:ln>
                <a:solidFill>
                  <a:schemeClr val="tx1"/>
                </a:solidFill>
                <a:effectLst/>
                <a:latin typeface="Arial" panose="020B0604020202020204" pitchFamily="34" charset="0"/>
              </a:rPr>
              <a:t> can be enhanced to include additional features for improved functionality and user experience. One possible enhancement is integrating a </a:t>
            </a:r>
            <a:r>
              <a:rPr kumimoji="0" lang="en-US" altLang="en-US" sz="1800" b="1" i="0" u="none" strike="noStrike" cap="none" normalizeH="0" baseline="0" dirty="0">
                <a:ln>
                  <a:noFill/>
                </a:ln>
                <a:solidFill>
                  <a:schemeClr val="tx1"/>
                </a:solidFill>
                <a:effectLst/>
                <a:latin typeface="Arial" panose="020B0604020202020204" pitchFamily="34" charset="0"/>
              </a:rPr>
              <a:t>dynamic seat allocation algorithm</a:t>
            </a:r>
            <a:r>
              <a:rPr kumimoji="0" lang="en-US" altLang="en-US" sz="1800" b="0" i="0" u="none" strike="noStrike" cap="none" normalizeH="0" baseline="0" dirty="0">
                <a:ln>
                  <a:noFill/>
                </a:ln>
                <a:solidFill>
                  <a:schemeClr val="tx1"/>
                </a:solidFill>
                <a:effectLst/>
                <a:latin typeface="Arial" panose="020B0604020202020204" pitchFamily="34" charset="0"/>
              </a:rPr>
              <a:t> that automatically assigns seat numbers based on predefined rules such as proximity, group preferences, or seat availability. This would make the system more versatile, especially for events or cinemas that require real-time seat management. Additionally, the bot can be linked to an online booking portal, allowing it to fetch participant data directly from a database or API, reducing dependency on manual Excel sheet updates.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Another potential enhancement is the integration of </a:t>
            </a:r>
            <a:r>
              <a:rPr kumimoji="0" lang="en-US" altLang="en-US" sz="1800" b="1" i="0" u="none" strike="noStrike" cap="none" normalizeH="0" baseline="0" dirty="0">
                <a:ln>
                  <a:noFill/>
                </a:ln>
                <a:solidFill>
                  <a:schemeClr val="tx1"/>
                </a:solidFill>
                <a:effectLst/>
                <a:latin typeface="Arial" panose="020B0604020202020204" pitchFamily="34" charset="0"/>
              </a:rPr>
              <a:t>customized ticket designs</a:t>
            </a:r>
            <a:r>
              <a:rPr kumimoji="0" lang="en-US" altLang="en-US" sz="1800" b="0" i="0" u="none" strike="noStrike" cap="none" normalizeH="0" baseline="0" dirty="0">
                <a:ln>
                  <a:noFill/>
                </a:ln>
                <a:solidFill>
                  <a:schemeClr val="tx1"/>
                </a:solidFill>
                <a:effectLst/>
                <a:latin typeface="Arial" panose="020B0604020202020204" pitchFamily="34" charset="0"/>
              </a:rPr>
              <a:t> based on themes or user preferences. For example, the bot could dynamically select different templates for events like premieres, concerts, or private screenings. Furthermore, incorporating multi-language support and QR code generation for each ticket can improve accessibility and enable seamless check-ins. By leveraging AI-powered tools, the bot could also analyze customer preferences and generate tailored marketing messages or event recommendations, adding value to the ticketing experience. These enhancements would make the bot more robust, scalable, and adaptable to various use cases.</a:t>
            </a: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4" name="Rectangle 1">
            <a:extLst>
              <a:ext uri="{FF2B5EF4-FFF2-40B4-BE49-F238E27FC236}">
                <a16:creationId xmlns:a16="http://schemas.microsoft.com/office/drawing/2014/main" id="{0A7BD7F2-7E57-8FCE-0A53-2E4570CA31C6}"/>
              </a:ext>
            </a:extLst>
          </p:cNvPr>
          <p:cNvSpPr>
            <a:spLocks noGrp="1" noChangeArrowheads="1"/>
          </p:cNvSpPr>
          <p:nvPr>
            <p:ph idx="1"/>
          </p:nvPr>
        </p:nvSpPr>
        <p:spPr bwMode="auto">
          <a:xfrm>
            <a:off x="190500" y="1456997"/>
            <a:ext cx="855796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Title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1" u="none" strike="noStrike" cap="none" normalizeH="0" baseline="0" dirty="0">
                <a:ln>
                  <a:noFill/>
                </a:ln>
                <a:solidFill>
                  <a:schemeClr val="tx1"/>
                </a:solidFill>
                <a:effectLst/>
                <a:latin typeface="Arial" panose="020B0604020202020204" pitchFamily="34" charset="0"/>
              </a:rPr>
              <a:t>Implementation of Robotic Process Automation (RPA) in Digital Marketing</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Authors</a:t>
            </a:r>
            <a:r>
              <a:rPr kumimoji="0" lang="en-US" altLang="en-US" sz="2000" b="0" i="0" u="none" strike="noStrike" cap="none" normalizeH="0" baseline="0" dirty="0">
                <a:ln>
                  <a:noFill/>
                </a:ln>
                <a:solidFill>
                  <a:schemeClr val="tx1"/>
                </a:solidFill>
                <a:effectLst/>
                <a:latin typeface="Arial" panose="020B0604020202020204" pitchFamily="34" charset="0"/>
              </a:rPr>
              <a:t>: Syed M. Abbas, Farhan Muhammad, Aisha Asif, Umair Shahzad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Summary</a:t>
            </a:r>
            <a:r>
              <a:rPr kumimoji="0" lang="en-US" altLang="en-US" sz="2000" b="0" i="0" u="none" strike="noStrike" cap="none" normalizeH="0" baseline="0" dirty="0">
                <a:ln>
                  <a:noFill/>
                </a:ln>
                <a:solidFill>
                  <a:schemeClr val="tx1"/>
                </a:solidFill>
                <a:effectLst/>
                <a:latin typeface="Arial" panose="020B0604020202020204" pitchFamily="34" charset="0"/>
              </a:rPr>
              <a:t>: This paper discusses the application of RPA in digital marketing and automation, which can be relevant to automating processes like your movie ticket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Title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1" u="none" strike="noStrike" cap="none" normalizeH="0" baseline="0" dirty="0">
                <a:ln>
                  <a:noFill/>
                </a:ln>
                <a:solidFill>
                  <a:schemeClr val="tx1"/>
                </a:solidFill>
                <a:effectLst/>
                <a:latin typeface="Arial" panose="020B0604020202020204" pitchFamily="34" charset="0"/>
              </a:rPr>
              <a:t>A Comparative Analysis of RPA Tools: UiPath, Automation Anywhere, and </a:t>
            </a:r>
            <a:r>
              <a:rPr kumimoji="0" lang="en-US" altLang="en-US" sz="2000" b="0" i="1" u="none" strike="noStrike" cap="none" normalizeH="0" baseline="0" dirty="0" err="1">
                <a:ln>
                  <a:noFill/>
                </a:ln>
                <a:solidFill>
                  <a:schemeClr val="tx1"/>
                </a:solidFill>
                <a:effectLst/>
                <a:latin typeface="Arial" panose="020B0604020202020204" pitchFamily="34" charset="0"/>
              </a:rPr>
              <a:t>Robocorp</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Authors</a:t>
            </a:r>
            <a:r>
              <a:rPr kumimoji="0" lang="en-US" altLang="en-US" sz="2000" b="0" i="0" u="none" strike="noStrike" cap="none" normalizeH="0" baseline="0" dirty="0">
                <a:ln>
                  <a:noFill/>
                </a:ln>
                <a:solidFill>
                  <a:schemeClr val="tx1"/>
                </a:solidFill>
                <a:effectLst/>
                <a:latin typeface="Arial" panose="020B0604020202020204" pitchFamily="34" charset="0"/>
              </a:rPr>
              <a:t>: Omer Mahmood, M. M. M. Awan, Omar M. A. K. Khan</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Summary</a:t>
            </a:r>
            <a:r>
              <a:rPr kumimoji="0" lang="en-US" altLang="en-US" sz="2000" b="0" i="0" u="none" strike="noStrike" cap="none" normalizeH="0" baseline="0" dirty="0">
                <a:ln>
                  <a:noFill/>
                </a:ln>
                <a:solidFill>
                  <a:schemeClr val="tx1"/>
                </a:solidFill>
                <a:effectLst/>
                <a:latin typeface="Arial" panose="020B0604020202020204" pitchFamily="34" charset="0"/>
              </a:rPr>
              <a:t>: This paper compares leading RPA tools, including UiPath, and provides insights into optimizing automation tasks. It could help enhance your movie ticket generation bot by understanding tool capabilities.</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a:xfrm>
            <a:off x="165484" y="1170620"/>
            <a:ext cx="13623540" cy="5462736"/>
          </a:xfrm>
        </p:spPr>
        <p:txBody>
          <a:bodyPr numCol="2">
            <a:normAutofit/>
          </a:bodyPr>
          <a:lstStyle/>
          <a:p>
            <a:pPr>
              <a:buFont typeface="+mj-lt"/>
              <a:buAutoNum type="arabicPeriod"/>
            </a:pPr>
            <a:r>
              <a:rPr lang="en-IN" sz="1800" b="1" dirty="0">
                <a:latin typeface="Arial" panose="020B0604020202020204" pitchFamily="34" charset="0"/>
                <a:cs typeface="Arial" panose="020B0604020202020204" pitchFamily="34" charset="0"/>
              </a:rPr>
              <a:t>Syed M. Abbas, Farhan Muhammad, Aisha Asif, Umair Shahzad</a:t>
            </a:r>
            <a:r>
              <a:rPr lang="en-IN" sz="1800" dirty="0">
                <a:latin typeface="Arial" panose="020B0604020202020204" pitchFamily="34" charset="0"/>
                <a:cs typeface="Arial" panose="020B0604020202020204" pitchFamily="34" charset="0"/>
              </a:rPr>
              <a:t>, </a:t>
            </a:r>
            <a:r>
              <a:rPr lang="en-IN" sz="1800" i="1" dirty="0">
                <a:latin typeface="Arial" panose="020B0604020202020204" pitchFamily="34" charset="0"/>
                <a:cs typeface="Arial" panose="020B0604020202020204" pitchFamily="34" charset="0"/>
              </a:rPr>
              <a:t>"Implementation of Robotic Process Automation (RPA) in Digital Marketing"</a:t>
            </a:r>
            <a:r>
              <a:rPr lang="en-IN" sz="1800" dirty="0">
                <a:latin typeface="Arial" panose="020B0604020202020204" pitchFamily="34" charset="0"/>
                <a:cs typeface="Arial" panose="020B0604020202020204" pitchFamily="34" charset="0"/>
              </a:rPr>
              <a:t>.</a:t>
            </a:r>
          </a:p>
          <a:p>
            <a:pPr>
              <a:buFont typeface="+mj-lt"/>
              <a:buAutoNum type="arabicPeriod"/>
            </a:pPr>
            <a:endParaRPr lang="en-IN" sz="1800" dirty="0">
              <a:solidFill>
                <a:srgbClr val="0070C0"/>
              </a:solidFill>
              <a:latin typeface="Arial" panose="020B0604020202020204" pitchFamily="34" charset="0"/>
              <a:cs typeface="Arial" panose="020B0604020202020204" pitchFamily="34" charset="0"/>
            </a:endParaRPr>
          </a:p>
          <a:p>
            <a:pPr>
              <a:buFont typeface="+mj-lt"/>
              <a:buAutoNum type="arabicPeriod"/>
            </a:pPr>
            <a:r>
              <a:rPr lang="en-US" sz="1800" b="1" dirty="0">
                <a:latin typeface="Arial" panose="020B0604020202020204" pitchFamily="34" charset="0"/>
                <a:cs typeface="Arial" panose="020B0604020202020204" pitchFamily="34" charset="0"/>
              </a:rPr>
              <a:t>Omer Mahmood, M. M. M. Awan, Omar M. A. K. Khan</a:t>
            </a:r>
            <a:r>
              <a:rPr lang="en-US" sz="1800" dirty="0">
                <a:latin typeface="Arial" panose="020B0604020202020204" pitchFamily="34" charset="0"/>
                <a:cs typeface="Arial" panose="020B0604020202020204" pitchFamily="34" charset="0"/>
              </a:rPr>
              <a:t>, </a:t>
            </a:r>
            <a:r>
              <a:rPr lang="en-US" sz="1800" i="1" dirty="0">
                <a:latin typeface="Arial" panose="020B0604020202020204" pitchFamily="34" charset="0"/>
                <a:cs typeface="Arial" panose="020B0604020202020204" pitchFamily="34" charset="0"/>
              </a:rPr>
              <a:t>"A Comparative Analysis of RPA Tools: UiPath, Automation Anywhere, and </a:t>
            </a:r>
            <a:r>
              <a:rPr lang="en-US" sz="1800" i="1" dirty="0" err="1">
                <a:latin typeface="Arial" panose="020B0604020202020204" pitchFamily="34" charset="0"/>
                <a:cs typeface="Arial" panose="020B0604020202020204" pitchFamily="34" charset="0"/>
              </a:rPr>
              <a:t>Robocorp</a:t>
            </a:r>
            <a:r>
              <a:rPr lang="en-US" sz="1800" i="1"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a:t>
            </a:r>
          </a:p>
          <a:p>
            <a:pPr>
              <a:buFont typeface="+mj-lt"/>
              <a:buAutoNum type="arabicPeriod"/>
            </a:pPr>
            <a:endParaRPr lang="en-US" sz="1800" dirty="0">
              <a:solidFill>
                <a:srgbClr val="0070C0"/>
              </a:solidFill>
              <a:latin typeface="Arial" panose="020B0604020202020204" pitchFamily="34" charset="0"/>
              <a:cs typeface="Arial" panose="020B0604020202020204" pitchFamily="34" charset="0"/>
            </a:endParaRPr>
          </a:p>
          <a:p>
            <a:pPr>
              <a:buFont typeface="+mj-lt"/>
              <a:buAutoNum type="arabicPeriod"/>
            </a:pPr>
            <a:r>
              <a:rPr lang="en-US" sz="1800" b="1" dirty="0">
                <a:latin typeface="Arial" panose="020B0604020202020204" pitchFamily="34" charset="0"/>
                <a:cs typeface="Arial" panose="020B0604020202020204" pitchFamily="34" charset="0"/>
              </a:rPr>
              <a:t>V. Prakash, R. Dinesh, S. Venkatesan</a:t>
            </a:r>
            <a:br>
              <a:rPr lang="en-US" sz="1800" dirty="0">
                <a:latin typeface="Arial" panose="020B0604020202020204" pitchFamily="34" charset="0"/>
                <a:cs typeface="Arial" panose="020B0604020202020204" pitchFamily="34" charset="0"/>
              </a:rPr>
            </a:br>
            <a:r>
              <a:rPr lang="en-US" sz="1800" i="1" dirty="0">
                <a:latin typeface="Arial" panose="020B0604020202020204" pitchFamily="34" charset="0"/>
                <a:cs typeface="Arial" panose="020B0604020202020204" pitchFamily="34" charset="0"/>
              </a:rPr>
              <a:t>"A Comparative Analysis of Automation Anywhere, UiPath, and </a:t>
            </a:r>
            <a:r>
              <a:rPr lang="en-US" sz="1800" i="1" dirty="0" err="1">
                <a:latin typeface="Arial" panose="020B0604020202020204" pitchFamily="34" charset="0"/>
                <a:cs typeface="Arial" panose="020B0604020202020204" pitchFamily="34" charset="0"/>
              </a:rPr>
              <a:t>BluePrism</a:t>
            </a:r>
            <a:r>
              <a:rPr lang="en-US" sz="1800" i="1" dirty="0">
                <a:latin typeface="Arial" panose="020B0604020202020204" pitchFamily="34" charset="0"/>
                <a:cs typeface="Arial" panose="020B0604020202020204" pitchFamily="34" charset="0"/>
              </a:rPr>
              <a:t>“</a:t>
            </a:r>
            <a:endParaRPr lang="en-US" sz="1800" i="1" dirty="0">
              <a:solidFill>
                <a:srgbClr val="0070C0"/>
              </a:solidFill>
              <a:latin typeface="Arial" panose="020B0604020202020204" pitchFamily="34" charset="0"/>
              <a:cs typeface="Arial" panose="020B0604020202020204" pitchFamily="34" charset="0"/>
            </a:endParaRPr>
          </a:p>
          <a:p>
            <a:pPr>
              <a:buFont typeface="+mj-lt"/>
              <a:buAutoNum type="arabicPeriod"/>
            </a:pPr>
            <a:endParaRPr lang="en-US" sz="1800" i="1" dirty="0">
              <a:solidFill>
                <a:srgbClr val="0070C0"/>
              </a:solidFill>
              <a:latin typeface="Arial" panose="020B0604020202020204" pitchFamily="34" charset="0"/>
              <a:cs typeface="Arial" panose="020B0604020202020204" pitchFamily="34" charset="0"/>
            </a:endParaRPr>
          </a:p>
          <a:p>
            <a:pPr>
              <a:buFont typeface="+mj-lt"/>
              <a:buAutoNum type="arabicPeriod"/>
            </a:pPr>
            <a:r>
              <a:rPr lang="en-US" sz="1800" b="1" dirty="0">
                <a:latin typeface="Arial" panose="020B0604020202020204" pitchFamily="34" charset="0"/>
                <a:cs typeface="Arial" panose="020B0604020202020204" pitchFamily="34" charset="0"/>
              </a:rPr>
              <a:t>K. Saranya, R. Suhasini</a:t>
            </a:r>
            <a:br>
              <a:rPr lang="en-US" sz="1800" dirty="0">
                <a:latin typeface="Arial" panose="020B0604020202020204" pitchFamily="34" charset="0"/>
                <a:cs typeface="Arial" panose="020B0604020202020204" pitchFamily="34" charset="0"/>
              </a:rPr>
            </a:br>
            <a:r>
              <a:rPr lang="en-US" sz="1800" i="1" dirty="0">
                <a:latin typeface="Arial" panose="020B0604020202020204" pitchFamily="34" charset="0"/>
                <a:cs typeface="Arial" panose="020B0604020202020204" pitchFamily="34" charset="0"/>
              </a:rPr>
              <a:t>"RPA Implementation in Repetitive Business Processes: A UiPath Case Study"</a:t>
            </a:r>
            <a:endParaRPr lang="en-US" sz="1800" dirty="0">
              <a:solidFill>
                <a:srgbClr val="0070C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ags/tag21.xml><?xml version="1.0" encoding="utf-8"?>
<p:tagLst xmlns:a="http://schemas.openxmlformats.org/drawingml/2006/main" xmlns:r="http://schemas.openxmlformats.org/officeDocument/2006/relationships" xmlns:p="http://schemas.openxmlformats.org/presentationml/2006/main">
  <p:tag name="TIMING" val="|1.1|4|2.4|1.4"/>
</p:tagLst>
</file>

<file path=ppt/tags/tag22.xml><?xml version="1.0" encoding="utf-8"?>
<p:tagLst xmlns:a="http://schemas.openxmlformats.org/drawingml/2006/main" xmlns:r="http://schemas.openxmlformats.org/officeDocument/2006/relationships" xmlns:p="http://schemas.openxmlformats.org/presentationml/2006/main">
  <p:tag name="TIMING" val="|1.1|4|2.4|1.4"/>
</p:tagLst>
</file>

<file path=ppt/tags/tag23.xml><?xml version="1.0" encoding="utf-8"?>
<p:tagLst xmlns:a="http://schemas.openxmlformats.org/drawingml/2006/main" xmlns:r="http://schemas.openxmlformats.org/officeDocument/2006/relationships" xmlns:p="http://schemas.openxmlformats.org/presentationml/2006/main">
  <p:tag name="TIMING" val="|1.1|4|2.4|1.4"/>
</p:tagLst>
</file>

<file path=ppt/tags/tag24.xml><?xml version="1.0" encoding="utf-8"?>
<p:tagLst xmlns:a="http://schemas.openxmlformats.org/drawingml/2006/main" xmlns:r="http://schemas.openxmlformats.org/officeDocument/2006/relationships" xmlns:p="http://schemas.openxmlformats.org/presentationml/2006/main">
  <p:tag name="TIMING" val="|1.1|4|2.4|1.4"/>
</p:tagLst>
</file>

<file path=ppt/tags/tag2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9440</TotalTime>
  <Words>2447</Words>
  <Application>Microsoft Office PowerPoint</Application>
  <PresentationFormat>On-screen Show (4:3)</PresentationFormat>
  <Paragraphs>170</Paragraphs>
  <Slides>29</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vt:lpstr>
      <vt:lpstr>Functional Description</vt:lpstr>
      <vt:lpstr>Table Design</vt:lpstr>
      <vt:lpstr>Table Design</vt:lpstr>
      <vt:lpstr>Process Design</vt:lpstr>
      <vt:lpstr>Process Design</vt:lpstr>
      <vt:lpstr>Implementation</vt:lpstr>
      <vt:lpstr>Implementation</vt:lpstr>
      <vt:lpstr>Testing</vt:lpstr>
      <vt:lpstr>Testing</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knm</dc:creator>
  <cp:lastModifiedBy>nikhil knm</cp:lastModifiedBy>
  <cp:revision>1768</cp:revision>
  <dcterms:created xsi:type="dcterms:W3CDTF">2013-05-17T03:00:03Z</dcterms:created>
  <dcterms:modified xsi:type="dcterms:W3CDTF">2024-11-22T03:46:59Z</dcterms:modified>
</cp:coreProperties>
</file>